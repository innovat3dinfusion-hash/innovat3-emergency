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image" Target="../media/image-6-13.png"/><Relationship Id="rId14" Type="http://schemas.openxmlformats.org/officeDocument/2006/relationships/image" Target="../media/image-6-14.png"/><Relationship Id="rId15" Type="http://schemas.openxmlformats.org/officeDocument/2006/relationships/image" Target="../media/image-6-15.png"/><Relationship Id="rId16" Type="http://schemas.openxmlformats.org/officeDocument/2006/relationships/image" Target="../media/image-6-16.png"/><Relationship Id="rId17" Type="http://schemas.openxmlformats.org/officeDocument/2006/relationships/image" Target="../media/image-6-17.png"/><Relationship Id="rId18" Type="http://schemas.openxmlformats.org/officeDocument/2006/relationships/image" Target="../media/image-6-18.png"/><Relationship Id="rId19" Type="http://schemas.openxmlformats.org/officeDocument/2006/relationships/image" Target="../media/image-6-19.png"/><Relationship Id="rId20" Type="http://schemas.openxmlformats.org/officeDocument/2006/relationships/image" Target="../media/image-6-20.png"/><Relationship Id="rId21" Type="http://schemas.openxmlformats.org/officeDocument/2006/relationships/image" Target="../media/image-6-21.png"/><Relationship Id="rId22" Type="http://schemas.openxmlformats.org/officeDocument/2006/relationships/image" Target="../media/image-6-22.png"/><Relationship Id="rId23" Type="http://schemas.openxmlformats.org/officeDocument/2006/relationships/image" Target="../media/image-6-23.png"/><Relationship Id="rId24" Type="http://schemas.openxmlformats.org/officeDocument/2006/relationships/image" Target="../media/image-6-24.png"/><Relationship Id="rId25" Type="http://schemas.openxmlformats.org/officeDocument/2006/relationships/image" Target="../media/image-6-25.png"/><Relationship Id="rId26" Type="http://schemas.openxmlformats.org/officeDocument/2006/relationships/image" Target="../media/image-6-26.png"/><Relationship Id="rId27" Type="http://schemas.openxmlformats.org/officeDocument/2006/relationships/image" Target="../media/image-6-27.png"/><Relationship Id="rId28" Type="http://schemas.openxmlformats.org/officeDocument/2006/relationships/image" Target="../media/image-6-28.png"/><Relationship Id="rId29" Type="http://schemas.openxmlformats.org/officeDocument/2006/relationships/image" Target="../media/image-6-29.png"/><Relationship Id="rId30" Type="http://schemas.openxmlformats.org/officeDocument/2006/relationships/image" Target="../media/image-6-30.png"/><Relationship Id="rId31" Type="http://schemas.openxmlformats.org/officeDocument/2006/relationships/image" Target="../media/image-6-31.png"/><Relationship Id="rId32" Type="http://schemas.openxmlformats.org/officeDocument/2006/relationships/image" Target="../media/image-6-32.png"/><Relationship Id="rId33" Type="http://schemas.openxmlformats.org/officeDocument/2006/relationships/image" Target="../media/image-6-33.png"/><Relationship Id="rId34" Type="http://schemas.openxmlformats.org/officeDocument/2006/relationships/slideLayout" Target="../slideLayouts/slideLayout1.xml"/><Relationship Id="rId3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image" Target="../media/image-7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jpeg"/><Relationship Id="rId3" Type="http://schemas.openxmlformats.org/officeDocument/2006/relationships/image" Target="../media/image-10-3.jpeg"/><Relationship Id="rId4" Type="http://schemas.openxmlformats.org/officeDocument/2006/relationships/image" Target="../media/image-10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43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" y="128016"/>
            <a:ext cx="512064" cy="512064"/>
          </a:xfrm>
          <a:prstGeom prst="ellipse">
            <a:avLst/>
          </a:prstGeom>
        </p:spPr>
      </p:pic>
      <p:sp>
        <p:nvSpPr>
          <p:cNvPr id="4" name="Text 1"/>
          <p:cNvSpPr/>
          <p:nvPr/>
        </p:nvSpPr>
        <p:spPr>
          <a:xfrm>
            <a:off x="347472" y="82296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innovat3.</a:t>
            </a:r>
            <a:endParaRPr lang="en-US" sz="6200" dirty="0"/>
          </a:p>
        </p:txBody>
      </p:sp>
      <p:sp>
        <p:nvSpPr>
          <p:cNvPr id="5" name="Text 2"/>
          <p:cNvSpPr/>
          <p:nvPr/>
        </p:nvSpPr>
        <p:spPr>
          <a:xfrm>
            <a:off x="347472" y="1883664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NFC Emergency Tags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347472" y="2249424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Protecting South African families — one tap at a time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347472" y="2615184"/>
            <a:ext cx="4206240" cy="4572"/>
          </a:xfrm>
          <a:prstGeom prst="rect">
            <a:avLst/>
          </a:prstGeom>
          <a:solidFill>
            <a:srgbClr val="2C2C38"/>
          </a:solidFill>
          <a:ln w="12700">
            <a:solidFill>
              <a:srgbClr val="2C2C3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47472" y="2743200"/>
            <a:ext cx="1316736" cy="274320"/>
          </a:xfrm>
          <a:prstGeom prst="rect">
            <a:avLst/>
          </a:prstGeom>
          <a:solidFill>
            <a:srgbClr val="17171C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47472" y="2752344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Printed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1773936" y="2743200"/>
            <a:ext cx="1316736" cy="274320"/>
          </a:xfrm>
          <a:prstGeom prst="rect">
            <a:avLst/>
          </a:prstGeom>
          <a:solidFill>
            <a:srgbClr val="17171C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773936" y="2752344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IP67 Rated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200400" y="2743200"/>
            <a:ext cx="1316736" cy="274320"/>
          </a:xfrm>
          <a:prstGeom prst="rect">
            <a:avLst/>
          </a:prstGeom>
          <a:solidFill>
            <a:srgbClr val="17171C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200400" y="2752344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SA-Built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347472" y="3145536"/>
            <a:ext cx="4206240" cy="4572"/>
          </a:xfrm>
          <a:prstGeom prst="rect">
            <a:avLst/>
          </a:prstGeom>
          <a:solidFill>
            <a:srgbClr val="2C2C38"/>
          </a:solidFill>
          <a:ln w="12700">
            <a:solidFill>
              <a:srgbClr val="2C2C3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7472" y="3255264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hello@innovat3.co.za  ·  innovat3.co.za  ·  WhatsApp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347472" y="3621024"/>
            <a:ext cx="4206240" cy="1097280"/>
          </a:xfrm>
          <a:prstGeom prst="rect">
            <a:avLst/>
          </a:prstGeom>
          <a:solidFill>
            <a:srgbClr val="17171C"/>
          </a:solidFill>
          <a:ln w="6350">
            <a:solidFill>
              <a:srgbClr val="2C2C3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47472" y="3621024"/>
            <a:ext cx="29261" cy="10972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12064" y="3694176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12064" y="3968496"/>
            <a:ext cx="39136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NFC phone taps the tag → emergency profile opens in browser instantly. No app needed. Family gets GPS alert via Telegram and WhatsApp in under 3 seconds.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138928" y="36576"/>
            <a:ext cx="1920240" cy="2331720"/>
          </a:xfrm>
          <a:prstGeom prst="rect">
            <a:avLst/>
          </a:prstGeom>
          <a:solidFill>
            <a:srgbClr val="17171C"/>
          </a:solidFill>
          <a:ln w="6350">
            <a:solidFill>
              <a:srgbClr val="2C2C3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5138928" y="36576"/>
            <a:ext cx="1920240" cy="2743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138928" y="310896"/>
            <a:ext cx="192024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3s</a:t>
            </a:r>
            <a:endParaRPr lang="en-US" sz="4000" dirty="0"/>
          </a:p>
        </p:txBody>
      </p:sp>
      <p:sp>
        <p:nvSpPr>
          <p:cNvPr id="23" name="Shape 20"/>
          <p:cNvSpPr/>
          <p:nvPr/>
        </p:nvSpPr>
        <p:spPr>
          <a:xfrm>
            <a:off x="5413248" y="1773936"/>
            <a:ext cx="1371600" cy="4572"/>
          </a:xfrm>
          <a:prstGeom prst="rect">
            <a:avLst/>
          </a:prstGeom>
          <a:solidFill>
            <a:srgbClr val="2C2C38"/>
          </a:solidFill>
          <a:ln w="12700">
            <a:solidFill>
              <a:srgbClr val="2C2C3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138928" y="1865376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delivery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7178040" y="36576"/>
            <a:ext cx="1920240" cy="2331720"/>
          </a:xfrm>
          <a:prstGeom prst="rect">
            <a:avLst/>
          </a:prstGeom>
          <a:solidFill>
            <a:srgbClr val="17171C"/>
          </a:solidFill>
          <a:ln w="6350">
            <a:solidFill>
              <a:srgbClr val="2C2C3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7178040" y="36576"/>
            <a:ext cx="1920240" cy="27432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178040" y="310896"/>
            <a:ext cx="192024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000" dirty="0"/>
          </a:p>
        </p:txBody>
      </p:sp>
      <p:sp>
        <p:nvSpPr>
          <p:cNvPr id="28" name="Shape 25"/>
          <p:cNvSpPr/>
          <p:nvPr/>
        </p:nvSpPr>
        <p:spPr>
          <a:xfrm>
            <a:off x="7452360" y="1773936"/>
            <a:ext cx="1371600" cy="4572"/>
          </a:xfrm>
          <a:prstGeom prst="rect">
            <a:avLst/>
          </a:prstGeom>
          <a:solidFill>
            <a:srgbClr val="2C2C38"/>
          </a:solidFill>
          <a:ln w="12700">
            <a:solidFill>
              <a:srgbClr val="2C2C38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178040" y="1865376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needed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5138928" y="2478024"/>
            <a:ext cx="1920240" cy="2331720"/>
          </a:xfrm>
          <a:prstGeom prst="rect">
            <a:avLst/>
          </a:prstGeom>
          <a:solidFill>
            <a:srgbClr val="17171C"/>
          </a:solidFill>
          <a:ln w="6350">
            <a:solidFill>
              <a:srgbClr val="2C2C3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5138928" y="2478024"/>
            <a:ext cx="1920240" cy="274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138928" y="2752344"/>
            <a:ext cx="192024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IP67</a:t>
            </a:r>
            <a:endParaRPr lang="en-US" sz="4000" dirty="0"/>
          </a:p>
        </p:txBody>
      </p:sp>
      <p:sp>
        <p:nvSpPr>
          <p:cNvPr id="33" name="Shape 30"/>
          <p:cNvSpPr/>
          <p:nvPr/>
        </p:nvSpPr>
        <p:spPr>
          <a:xfrm>
            <a:off x="5413248" y="4215384"/>
            <a:ext cx="1371600" cy="4572"/>
          </a:xfrm>
          <a:prstGeom prst="rect">
            <a:avLst/>
          </a:prstGeom>
          <a:solidFill>
            <a:srgbClr val="2C2C38"/>
          </a:solidFill>
          <a:ln w="12700">
            <a:solidFill>
              <a:srgbClr val="2C2C38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138928" y="4306824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Waterproof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7178040" y="2478024"/>
            <a:ext cx="1920240" cy="2331720"/>
          </a:xfrm>
          <a:prstGeom prst="rect">
            <a:avLst/>
          </a:prstGeom>
          <a:solidFill>
            <a:srgbClr val="17171C"/>
          </a:solidFill>
          <a:ln w="6350">
            <a:solidFill>
              <a:srgbClr val="2C2C3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7178040" y="2478024"/>
            <a:ext cx="1920240" cy="27432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7178040" y="2752344"/>
            <a:ext cx="192024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</a:t>
            </a:r>
            <a:endParaRPr lang="en-US" sz="4000" dirty="0"/>
          </a:p>
        </p:txBody>
      </p:sp>
      <p:sp>
        <p:nvSpPr>
          <p:cNvPr id="38" name="Shape 35"/>
          <p:cNvSpPr/>
          <p:nvPr/>
        </p:nvSpPr>
        <p:spPr>
          <a:xfrm>
            <a:off x="7452360" y="4215384"/>
            <a:ext cx="1371600" cy="4572"/>
          </a:xfrm>
          <a:prstGeom prst="rect">
            <a:avLst/>
          </a:prstGeom>
          <a:solidFill>
            <a:srgbClr val="2C2C38"/>
          </a:solidFill>
          <a:ln w="12700">
            <a:solidFill>
              <a:srgbClr val="2C2C38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7178040" y="4306824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locally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7171C"/>
          </a:solidFill>
          <a:ln w="12700">
            <a:solidFill>
              <a:srgbClr val="17171C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0" y="4873752"/>
            <a:ext cx="9144000" cy="4572"/>
          </a:xfrm>
          <a:prstGeom prst="rect">
            <a:avLst/>
          </a:prstGeom>
          <a:solidFill>
            <a:srgbClr val="2C2C38"/>
          </a:solidFill>
          <a:ln w="12700">
            <a:solidFill>
              <a:srgbClr val="2C2C38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347472" y="4901184"/>
            <a:ext cx="84490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9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Protecting families · One scan at a time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43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" y="100584"/>
            <a:ext cx="347472" cy="347472"/>
          </a:xfrm>
          <a:prstGeom prst="ellipse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8096" y="11887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innovat3.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029200" y="128016"/>
            <a:ext cx="3767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spc="250" kern="0" dirty="0">
                <a:solidFill>
                  <a:srgbClr val="9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SOLUTION</a:t>
            </a:r>
            <a:endParaRPr lang="en-US" sz="700" dirty="0"/>
          </a:p>
        </p:txBody>
      </p:sp>
      <p:sp>
        <p:nvSpPr>
          <p:cNvPr id="6" name="Shape 3"/>
          <p:cNvSpPr/>
          <p:nvPr/>
        </p:nvSpPr>
        <p:spPr>
          <a:xfrm>
            <a:off x="347472" y="521208"/>
            <a:ext cx="8449056" cy="4572"/>
          </a:xfrm>
          <a:prstGeom prst="rect">
            <a:avLst/>
          </a:prstGeom>
          <a:solidFill>
            <a:srgbClr val="2C2C38"/>
          </a:solidFill>
          <a:ln w="12700">
            <a:solidFill>
              <a:srgbClr val="2C2C3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7171C"/>
          </a:solidFill>
          <a:ln w="12700">
            <a:solidFill>
              <a:srgbClr val="17171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0" y="4873752"/>
            <a:ext cx="9144000" cy="4572"/>
          </a:xfrm>
          <a:prstGeom prst="rect">
            <a:avLst/>
          </a:prstGeom>
          <a:solidFill>
            <a:srgbClr val="2C2C38"/>
          </a:solidFill>
          <a:ln w="12700">
            <a:solidFill>
              <a:srgbClr val="2C2C3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47472" y="490118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innovat3.co.za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6053328" y="490118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2026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347472" y="640080"/>
            <a:ext cx="84490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A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is real. The solution is built.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347472" y="658368"/>
            <a:ext cx="4114800" cy="1316736"/>
          </a:xfrm>
          <a:prstGeom prst="rect">
            <a:avLst/>
          </a:prstGeom>
          <a:solidFill>
            <a:srgbClr val="17171C"/>
          </a:solidFill>
          <a:ln w="6350">
            <a:solidFill>
              <a:srgbClr val="2C2C3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47472" y="658368"/>
            <a:ext cx="29261" cy="1316736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" y="1133856"/>
            <a:ext cx="292608" cy="29260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932688" y="768096"/>
            <a:ext cx="3419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identification in an emergency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932688" y="1042416"/>
            <a:ext cx="3419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child is lost or an elderly person wanders, there is no way for a stranger or paramedic to know who they are, who to call, or what medical conditions apply.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347472" y="2029968"/>
            <a:ext cx="4114800" cy="1316736"/>
          </a:xfrm>
          <a:prstGeom prst="rect">
            <a:avLst/>
          </a:prstGeom>
          <a:solidFill>
            <a:srgbClr val="17171C"/>
          </a:solidFill>
          <a:ln w="6350">
            <a:solidFill>
              <a:srgbClr val="2C2C3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347472" y="2029968"/>
            <a:ext cx="29261" cy="1316736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" y="2505456"/>
            <a:ext cx="292608" cy="29260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32688" y="2139696"/>
            <a:ext cx="3419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response costs lives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932688" y="2414016"/>
            <a:ext cx="3419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Paramedics and bystanders spend precious time searching phones and wallets for next-of-kin contacts. Every minute without information increases risk of a poor outcome.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347472" y="3401568"/>
            <a:ext cx="4114800" cy="1316736"/>
          </a:xfrm>
          <a:prstGeom prst="rect">
            <a:avLst/>
          </a:prstGeom>
          <a:solidFill>
            <a:srgbClr val="17171C"/>
          </a:solidFill>
          <a:ln w="6350">
            <a:solidFill>
              <a:srgbClr val="2C2C3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347472" y="3401568"/>
            <a:ext cx="29261" cy="1316736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" y="3877056"/>
            <a:ext cx="292608" cy="29260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32688" y="3511296"/>
            <a:ext cx="3419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solutions require app downloads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932688" y="3785616"/>
            <a:ext cx="3419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NFC medical tags ask the finder to install a specific app first. In a real emergency, people do not stop to download software — they give up and move on.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4626864" y="658368"/>
            <a:ext cx="4572" cy="4041648"/>
          </a:xfrm>
          <a:prstGeom prst="rect">
            <a:avLst/>
          </a:prstGeom>
          <a:solidFill>
            <a:srgbClr val="2C2C38"/>
          </a:solidFill>
          <a:ln w="12700">
            <a:solidFill>
              <a:srgbClr val="2C2C38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4828032" y="658368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Innovat3 solution</a:t>
            </a:r>
            <a:endParaRPr lang="en-US" sz="1100" dirty="0"/>
          </a:p>
        </p:txBody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8032" y="1060704"/>
            <a:ext cx="256032" cy="256032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5193792" y="1024128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to open — no app needed</a:t>
            </a:r>
            <a:endParaRPr lang="en-US" sz="1100" dirty="0"/>
          </a:p>
        </p:txBody>
      </p:sp>
      <p:sp>
        <p:nvSpPr>
          <p:cNvPr id="31" name="Text 24"/>
          <p:cNvSpPr/>
          <p:nvPr/>
        </p:nvSpPr>
        <p:spPr>
          <a:xfrm>
            <a:off x="5193792" y="1316736"/>
            <a:ext cx="36393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NFC phone (Android or iPhone 7+) opens the emergency profile in the browser instantly. Zero download, zero friction.</a:t>
            </a:r>
            <a:endParaRPr lang="en-US" sz="1100" dirty="0"/>
          </a:p>
        </p:txBody>
      </p:sp>
      <p:sp>
        <p:nvSpPr>
          <p:cNvPr id="32" name="Shape 25"/>
          <p:cNvSpPr/>
          <p:nvPr/>
        </p:nvSpPr>
        <p:spPr>
          <a:xfrm>
            <a:off x="4828032" y="1883664"/>
            <a:ext cx="3977640" cy="4572"/>
          </a:xfrm>
          <a:prstGeom prst="rect">
            <a:avLst/>
          </a:prstGeom>
          <a:solidFill>
            <a:srgbClr val="2C2C38"/>
          </a:solidFill>
          <a:ln w="12700">
            <a:solidFill>
              <a:srgbClr val="2C2C38"/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28032" y="1975104"/>
            <a:ext cx="256032" cy="256032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5193792" y="1938528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captured silently</a:t>
            </a:r>
            <a:endParaRPr lang="en-US" sz="1100" dirty="0"/>
          </a:p>
        </p:txBody>
      </p:sp>
      <p:sp>
        <p:nvSpPr>
          <p:cNvPr id="35" name="Text 27"/>
          <p:cNvSpPr/>
          <p:nvPr/>
        </p:nvSpPr>
        <p:spPr>
          <a:xfrm>
            <a:off x="5193792" y="2231136"/>
            <a:ext cx="36393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captured with up to 5 retries and ≤100m accuracy, then reverse-geocoded to a readable street address.</a:t>
            </a:r>
            <a:endParaRPr lang="en-US" sz="1100" dirty="0"/>
          </a:p>
        </p:txBody>
      </p:sp>
      <p:sp>
        <p:nvSpPr>
          <p:cNvPr id="36" name="Shape 28"/>
          <p:cNvSpPr/>
          <p:nvPr/>
        </p:nvSpPr>
        <p:spPr>
          <a:xfrm>
            <a:off x="4828032" y="2798064"/>
            <a:ext cx="3977640" cy="4572"/>
          </a:xfrm>
          <a:prstGeom prst="rect">
            <a:avLst/>
          </a:prstGeom>
          <a:solidFill>
            <a:srgbClr val="2C2C38"/>
          </a:solidFill>
          <a:ln w="12700">
            <a:solidFill>
              <a:srgbClr val="2C2C38"/>
            </a:solidFill>
            <a:prstDash val="solid"/>
          </a:ln>
        </p:spPr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28032" y="2889504"/>
            <a:ext cx="256032" cy="256032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5193792" y="2852928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Telegram + WhatsApp alerts</a:t>
            </a:r>
            <a:endParaRPr lang="en-US" sz="1100" dirty="0"/>
          </a:p>
        </p:txBody>
      </p:sp>
      <p:sp>
        <p:nvSpPr>
          <p:cNvPr id="39" name="Text 30"/>
          <p:cNvSpPr/>
          <p:nvPr/>
        </p:nvSpPr>
        <p:spPr>
          <a:xfrm>
            <a:off x="5193792" y="3145536"/>
            <a:ext cx="36393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tag owner receives an immediate alert on both Telegram and WhatsApp with GPS link, subscriber name, and blood type.</a:t>
            </a:r>
            <a:endParaRPr lang="en-US" sz="1100" dirty="0"/>
          </a:p>
        </p:txBody>
      </p:sp>
      <p:sp>
        <p:nvSpPr>
          <p:cNvPr id="40" name="Shape 31"/>
          <p:cNvSpPr/>
          <p:nvPr/>
        </p:nvSpPr>
        <p:spPr>
          <a:xfrm>
            <a:off x="4828032" y="3712464"/>
            <a:ext cx="3977640" cy="4572"/>
          </a:xfrm>
          <a:prstGeom prst="rect">
            <a:avLst/>
          </a:prstGeom>
          <a:solidFill>
            <a:srgbClr val="2C2C38"/>
          </a:solidFill>
          <a:ln w="12700">
            <a:solidFill>
              <a:srgbClr val="2C2C38"/>
            </a:solidFill>
            <a:prstDash val="solid"/>
          </a:ln>
        </p:spPr>
      </p:sp>
      <p:pic>
        <p:nvPicPr>
          <p:cNvPr id="4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28032" y="3803904"/>
            <a:ext cx="256032" cy="256032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5193792" y="3767328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info front and centre</a:t>
            </a:r>
            <a:endParaRPr lang="en-US" sz="1100" dirty="0"/>
          </a:p>
        </p:txBody>
      </p:sp>
      <p:sp>
        <p:nvSpPr>
          <p:cNvPr id="43" name="Text 33"/>
          <p:cNvSpPr/>
          <p:nvPr/>
        </p:nvSpPr>
        <p:spPr>
          <a:xfrm>
            <a:off x="5193792" y="4059936"/>
            <a:ext cx="36393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type, conditions, medications, medical aid, and emergency contacts shown immediately — no login needed.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43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" y="100584"/>
            <a:ext cx="347472" cy="347472"/>
          </a:xfrm>
          <a:prstGeom prst="ellipse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8096" y="11887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innovat3.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029200" y="128016"/>
            <a:ext cx="3767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spc="250" kern="0" dirty="0">
                <a:solidFill>
                  <a:srgbClr val="9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700" dirty="0"/>
          </a:p>
        </p:txBody>
      </p:sp>
      <p:sp>
        <p:nvSpPr>
          <p:cNvPr id="6" name="Shape 3"/>
          <p:cNvSpPr/>
          <p:nvPr/>
        </p:nvSpPr>
        <p:spPr>
          <a:xfrm>
            <a:off x="347472" y="521208"/>
            <a:ext cx="8449056" cy="4572"/>
          </a:xfrm>
          <a:prstGeom prst="rect">
            <a:avLst/>
          </a:prstGeom>
          <a:solidFill>
            <a:srgbClr val="2C2C38"/>
          </a:solidFill>
          <a:ln w="12700">
            <a:solidFill>
              <a:srgbClr val="2C2C3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7171C"/>
          </a:solidFill>
          <a:ln w="12700">
            <a:solidFill>
              <a:srgbClr val="17171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0" y="4873752"/>
            <a:ext cx="9144000" cy="4572"/>
          </a:xfrm>
          <a:prstGeom prst="rect">
            <a:avLst/>
          </a:prstGeom>
          <a:solidFill>
            <a:srgbClr val="2C2C38"/>
          </a:solidFill>
          <a:ln w="12700">
            <a:solidFill>
              <a:srgbClr val="2C2C3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47472" y="490118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innovat3.co.za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6053328" y="490118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2026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347472" y="640080"/>
            <a:ext cx="84490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A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printed. NFC powered. Built in South Africa.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347472" y="1078992"/>
            <a:ext cx="84490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NTAG215 chip · PETG housing · Epoxy sealed · IP67 waterproof · Works on any NFC phone since 2018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47472" y="1225296"/>
            <a:ext cx="2715768" cy="1627632"/>
          </a:xfrm>
          <a:prstGeom prst="rect">
            <a:avLst/>
          </a:prstGeom>
          <a:solidFill>
            <a:srgbClr val="17171C"/>
          </a:solidFill>
          <a:ln w="6350">
            <a:solidFill>
              <a:srgbClr val="2C2C3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47472" y="1225296"/>
            <a:ext cx="29261" cy="16276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" y="1572768"/>
            <a:ext cx="329184" cy="32918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969264" y="133502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NTAG215 NFC Chip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969264" y="1645920"/>
            <a:ext cx="19659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504 bytes · ISO 14443A. Works with every NFC phone since 2018 — Android and iPhone — no app required.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3118104" y="1225296"/>
            <a:ext cx="2715768" cy="1627632"/>
          </a:xfrm>
          <a:prstGeom prst="rect">
            <a:avLst/>
          </a:prstGeom>
          <a:solidFill>
            <a:srgbClr val="17171C"/>
          </a:solidFill>
          <a:ln w="6350">
            <a:solidFill>
              <a:srgbClr val="2C2C3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3118104" y="1225296"/>
            <a:ext cx="29261" cy="1627632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2696" y="1572768"/>
            <a:ext cx="329184" cy="32918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3739896" y="133502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Printed PETG Housing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3739896" y="1645920"/>
            <a:ext cx="19659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Impact-resistant, UV-stable filament. Epoxy-sealed inlay. Fully waterproof to IP67 — survives pools and rough handling.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5888736" y="1225296"/>
            <a:ext cx="2715768" cy="1627632"/>
          </a:xfrm>
          <a:prstGeom prst="rect">
            <a:avLst/>
          </a:prstGeom>
          <a:solidFill>
            <a:srgbClr val="17171C"/>
          </a:solidFill>
          <a:ln w="6350">
            <a:solidFill>
              <a:srgbClr val="2C2C3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5888736" y="1225296"/>
            <a:ext cx="29261" cy="16276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3328" y="1572768"/>
            <a:ext cx="329184" cy="32918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510528" y="133502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ID Ready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6510528" y="1645920"/>
            <a:ext cx="19659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type, chronic conditions, medications, medical aid, and up to 3 emergency contacts on your live profile.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347472" y="2907792"/>
            <a:ext cx="2715768" cy="1627632"/>
          </a:xfrm>
          <a:prstGeom prst="rect">
            <a:avLst/>
          </a:prstGeom>
          <a:solidFill>
            <a:srgbClr val="17171C"/>
          </a:solidFill>
          <a:ln w="6350">
            <a:solidFill>
              <a:srgbClr val="2C2C3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347472" y="2907792"/>
            <a:ext cx="29261" cy="16276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064" y="3255264"/>
            <a:ext cx="329184" cy="329184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969264" y="301752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Glow Edition</a:t>
            </a:r>
            <a:endParaRPr lang="en-US" sz="1100" dirty="0"/>
          </a:p>
        </p:txBody>
      </p:sp>
      <p:sp>
        <p:nvSpPr>
          <p:cNvPr id="32" name="Text 25"/>
          <p:cNvSpPr/>
          <p:nvPr/>
        </p:nvSpPr>
        <p:spPr>
          <a:xfrm>
            <a:off x="969264" y="3328416"/>
            <a:ext cx="19659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Glow-in-the-dark PETG charges passively in daylight. Provides 6–8 hours of bright visibility in complete darkness.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3118104" y="2907792"/>
            <a:ext cx="2715768" cy="1627632"/>
          </a:xfrm>
          <a:prstGeom prst="rect">
            <a:avLst/>
          </a:prstGeom>
          <a:solidFill>
            <a:srgbClr val="17171C"/>
          </a:solidFill>
          <a:ln w="6350">
            <a:solidFill>
              <a:srgbClr val="2C2C3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3118104" y="2907792"/>
            <a:ext cx="29261" cy="162763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82696" y="3255264"/>
            <a:ext cx="329184" cy="329184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3739896" y="301752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 Colour Options</a:t>
            </a:r>
            <a:endParaRPr lang="en-US" sz="1100" dirty="0"/>
          </a:p>
        </p:txBody>
      </p:sp>
      <p:sp>
        <p:nvSpPr>
          <p:cNvPr id="37" name="Text 29"/>
          <p:cNvSpPr/>
          <p:nvPr/>
        </p:nvSpPr>
        <p:spPr>
          <a:xfrm>
            <a:off x="3739896" y="3328416"/>
            <a:ext cx="19659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Black, Orange, Red, Teal, Blue, Green, Glow Blue, Glitter Green — printed to order, every colour always available.</a:t>
            </a:r>
            <a:endParaRPr lang="en-US" sz="1100" dirty="0"/>
          </a:p>
        </p:txBody>
      </p:sp>
      <p:sp>
        <p:nvSpPr>
          <p:cNvPr id="38" name="Shape 30"/>
          <p:cNvSpPr/>
          <p:nvPr/>
        </p:nvSpPr>
        <p:spPr>
          <a:xfrm>
            <a:off x="5888736" y="2907792"/>
            <a:ext cx="2715768" cy="1627632"/>
          </a:xfrm>
          <a:prstGeom prst="rect">
            <a:avLst/>
          </a:prstGeom>
          <a:solidFill>
            <a:srgbClr val="17171C"/>
          </a:solidFill>
          <a:ln w="6350">
            <a:solidFill>
              <a:srgbClr val="2C2C3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9" name="Shape 31"/>
          <p:cNvSpPr/>
          <p:nvPr/>
        </p:nvSpPr>
        <p:spPr>
          <a:xfrm>
            <a:off x="5888736" y="2907792"/>
            <a:ext cx="29261" cy="1627632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pic>
        <p:nvPicPr>
          <p:cNvPr id="4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53328" y="3255264"/>
            <a:ext cx="329184" cy="329184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6510528" y="301752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Attachment</a:t>
            </a:r>
            <a:endParaRPr lang="en-US" sz="1100" dirty="0"/>
          </a:p>
        </p:txBody>
      </p:sp>
      <p:sp>
        <p:nvSpPr>
          <p:cNvPr id="42" name="Text 33"/>
          <p:cNvSpPr/>
          <p:nvPr/>
        </p:nvSpPr>
        <p:spPr>
          <a:xfrm>
            <a:off x="6510528" y="3328416"/>
            <a:ext cx="19659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magnets click onto watch straps and wristbands. Keyring fob or flat disc form factor — both in stock.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43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" y="100584"/>
            <a:ext cx="347472" cy="347472"/>
          </a:xfrm>
          <a:prstGeom prst="ellipse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8096" y="11887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innovat3.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029200" y="128016"/>
            <a:ext cx="3767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spc="250" kern="0" dirty="0">
                <a:solidFill>
                  <a:srgbClr val="9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700" dirty="0"/>
          </a:p>
        </p:txBody>
      </p:sp>
      <p:sp>
        <p:nvSpPr>
          <p:cNvPr id="6" name="Shape 3"/>
          <p:cNvSpPr/>
          <p:nvPr/>
        </p:nvSpPr>
        <p:spPr>
          <a:xfrm>
            <a:off x="347472" y="521208"/>
            <a:ext cx="8449056" cy="4572"/>
          </a:xfrm>
          <a:prstGeom prst="rect">
            <a:avLst/>
          </a:prstGeom>
          <a:solidFill>
            <a:srgbClr val="2C2C38"/>
          </a:solidFill>
          <a:ln w="12700">
            <a:solidFill>
              <a:srgbClr val="2C2C3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7171C"/>
          </a:solidFill>
          <a:ln w="12700">
            <a:solidFill>
              <a:srgbClr val="17171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0" y="4873752"/>
            <a:ext cx="9144000" cy="4572"/>
          </a:xfrm>
          <a:prstGeom prst="rect">
            <a:avLst/>
          </a:prstGeom>
          <a:solidFill>
            <a:srgbClr val="2C2C38"/>
          </a:solidFill>
          <a:ln w="12700">
            <a:solidFill>
              <a:srgbClr val="2C2C3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47472" y="490118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innovat3.co.za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6053328" y="490118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2026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347472" y="640080"/>
            <a:ext cx="84490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A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Scan. Alert. Safe.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347472" y="1078992"/>
            <a:ext cx="84490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NFC tap to GPS alert in the owner's pocket — under 10 seconds. No app required for the finder.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47472" y="1316736"/>
            <a:ext cx="2057400" cy="3438144"/>
          </a:xfrm>
          <a:prstGeom prst="rect">
            <a:avLst/>
          </a:prstGeom>
          <a:solidFill>
            <a:srgbClr val="17171C"/>
          </a:solidFill>
          <a:ln w="6350">
            <a:solidFill>
              <a:srgbClr val="2C2C3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347472" y="1353312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4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284" y="1920240"/>
            <a:ext cx="493776" cy="49377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38912" y="2523744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A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to Scan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475488" y="2871216"/>
            <a:ext cx="1801368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with a modern smartphone holds it near the tag. The emergency profile opens instantly in the browser — no app, no PIN, no friction whatsoever.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2414016" y="2633472"/>
            <a:ext cx="54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2468880" y="1316736"/>
            <a:ext cx="2057400" cy="3438144"/>
          </a:xfrm>
          <a:prstGeom prst="rect">
            <a:avLst/>
          </a:prstGeom>
          <a:solidFill>
            <a:srgbClr val="17171C"/>
          </a:solidFill>
          <a:ln w="6350">
            <a:solidFill>
              <a:srgbClr val="2C2C3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0" name="Text 16"/>
          <p:cNvSpPr/>
          <p:nvPr/>
        </p:nvSpPr>
        <p:spPr>
          <a:xfrm>
            <a:off x="2468880" y="1353312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40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0692" y="1920240"/>
            <a:ext cx="493776" cy="49377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2560320" y="2523744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A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Located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2596896" y="2871216"/>
            <a:ext cx="1801368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page captures GPS with up to 5 retries and ≤100m accuracy threshold, then converts to a human-readable street address via reverse geocoding.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4535424" y="2633472"/>
            <a:ext cx="54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25" name="Shape 20"/>
          <p:cNvSpPr/>
          <p:nvPr/>
        </p:nvSpPr>
        <p:spPr>
          <a:xfrm>
            <a:off x="4590288" y="1316736"/>
            <a:ext cx="2057400" cy="3438144"/>
          </a:xfrm>
          <a:prstGeom prst="rect">
            <a:avLst/>
          </a:prstGeom>
          <a:solidFill>
            <a:srgbClr val="17171C"/>
          </a:solidFill>
          <a:ln w="6350">
            <a:solidFill>
              <a:srgbClr val="2C2C3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6" name="Text 21"/>
          <p:cNvSpPr/>
          <p:nvPr/>
        </p:nvSpPr>
        <p:spPr>
          <a:xfrm>
            <a:off x="4590288" y="1353312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400" dirty="0"/>
          </a:p>
        </p:txBody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2100" y="1920240"/>
            <a:ext cx="493776" cy="493776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4681728" y="2523744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A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Alerted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4718304" y="2871216"/>
            <a:ext cx="1801368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instant Telegram message and WhatsApp tap-to-send button reach the tag owner with GPS map link, subscriber name, blood type, and medical alerts.</a:t>
            </a:r>
            <a:endParaRPr lang="en-US" sz="1100" dirty="0"/>
          </a:p>
        </p:txBody>
      </p:sp>
      <p:sp>
        <p:nvSpPr>
          <p:cNvPr id="30" name="Text 24"/>
          <p:cNvSpPr/>
          <p:nvPr/>
        </p:nvSpPr>
        <p:spPr>
          <a:xfrm>
            <a:off x="6656832" y="2633472"/>
            <a:ext cx="54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31" name="Shape 25"/>
          <p:cNvSpPr/>
          <p:nvPr/>
        </p:nvSpPr>
        <p:spPr>
          <a:xfrm>
            <a:off x="6711696" y="1316736"/>
            <a:ext cx="2057400" cy="3438144"/>
          </a:xfrm>
          <a:prstGeom prst="rect">
            <a:avLst/>
          </a:prstGeom>
          <a:solidFill>
            <a:srgbClr val="17171C"/>
          </a:solidFill>
          <a:ln w="6350">
            <a:solidFill>
              <a:srgbClr val="2C2C3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2" name="Text 26"/>
          <p:cNvSpPr/>
          <p:nvPr/>
        </p:nvSpPr>
        <p:spPr>
          <a:xfrm>
            <a:off x="6711696" y="1353312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400" dirty="0"/>
          </a:p>
        </p:txBody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508" y="1920240"/>
            <a:ext cx="493776" cy="493776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6803136" y="2523744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A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Logged Forever</a:t>
            </a:r>
            <a:endParaRPr lang="en-US" sz="1200" dirty="0"/>
          </a:p>
        </p:txBody>
      </p:sp>
      <p:sp>
        <p:nvSpPr>
          <p:cNvPr id="35" name="Text 28"/>
          <p:cNvSpPr/>
          <p:nvPr/>
        </p:nvSpPr>
        <p:spPr>
          <a:xfrm>
            <a:off x="6839712" y="2871216"/>
            <a:ext cx="1801368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scan is permanently recorded in the subscriber's secure Google Sheet — timestamp, GPS coordinates, reverse-geocoded address, and full medical snapshot.</a:t>
            </a:r>
            <a:endParaRPr lang="en-US" sz="1100" dirty="0"/>
          </a:p>
        </p:txBody>
      </p:sp>
      <p:sp>
        <p:nvSpPr>
          <p:cNvPr id="36" name="Shape 29"/>
          <p:cNvSpPr/>
          <p:nvPr/>
        </p:nvSpPr>
        <p:spPr>
          <a:xfrm>
            <a:off x="347472" y="4773168"/>
            <a:ext cx="8449056" cy="64008"/>
          </a:xfrm>
          <a:prstGeom prst="rect">
            <a:avLst/>
          </a:prstGeom>
          <a:solidFill>
            <a:srgbClr val="1F1F27"/>
          </a:solidFill>
          <a:ln w="5080">
            <a:solidFill>
              <a:srgbClr val="2C2C38"/>
            </a:solidFill>
            <a:prstDash val="solid"/>
          </a:ln>
        </p:spPr>
      </p:sp>
      <p:sp>
        <p:nvSpPr>
          <p:cNvPr id="37" name="Text 30"/>
          <p:cNvSpPr/>
          <p:nvPr/>
        </p:nvSpPr>
        <p:spPr>
          <a:xfrm>
            <a:off x="484632" y="4773168"/>
            <a:ext cx="8174736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app required for the finder · Works on any NFC-enabled Android or iPhone (virtually all phones since 2018)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43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" y="100584"/>
            <a:ext cx="347472" cy="347472"/>
          </a:xfrm>
          <a:prstGeom prst="ellipse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8096" y="11887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innovat3.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029200" y="128016"/>
            <a:ext cx="3767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spc="250" kern="0" dirty="0">
                <a:solidFill>
                  <a:srgbClr val="9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700" dirty="0"/>
          </a:p>
        </p:txBody>
      </p:sp>
      <p:sp>
        <p:nvSpPr>
          <p:cNvPr id="6" name="Shape 3"/>
          <p:cNvSpPr/>
          <p:nvPr/>
        </p:nvSpPr>
        <p:spPr>
          <a:xfrm>
            <a:off x="347472" y="521208"/>
            <a:ext cx="8449056" cy="4572"/>
          </a:xfrm>
          <a:prstGeom prst="rect">
            <a:avLst/>
          </a:prstGeom>
          <a:solidFill>
            <a:srgbClr val="2C2C38"/>
          </a:solidFill>
          <a:ln w="12700">
            <a:solidFill>
              <a:srgbClr val="2C2C3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7171C"/>
          </a:solidFill>
          <a:ln w="12700">
            <a:solidFill>
              <a:srgbClr val="17171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0" y="4873752"/>
            <a:ext cx="9144000" cy="4572"/>
          </a:xfrm>
          <a:prstGeom prst="rect">
            <a:avLst/>
          </a:prstGeom>
          <a:solidFill>
            <a:srgbClr val="2C2C38"/>
          </a:solidFill>
          <a:ln w="12700">
            <a:solidFill>
              <a:srgbClr val="2C2C3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47472" y="490118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innovat3.co.za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6053328" y="490118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2026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347472" y="640080"/>
            <a:ext cx="3931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11.5M+</a:t>
            </a:r>
            <a:endParaRPr lang="en-US" sz="5800" dirty="0"/>
          </a:p>
        </p:txBody>
      </p:sp>
      <p:sp>
        <p:nvSpPr>
          <p:cNvPr id="12" name="Text 9"/>
          <p:cNvSpPr/>
          <p:nvPr/>
        </p:nvSpPr>
        <p:spPr>
          <a:xfrm>
            <a:off x="347472" y="1609344"/>
            <a:ext cx="3931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Africans in our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EA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addressable market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347472" y="215798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Gauteng-first launch · National rollout from month 6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47472" y="2468880"/>
            <a:ext cx="3840480" cy="4572"/>
          </a:xfrm>
          <a:prstGeom prst="rect">
            <a:avLst/>
          </a:prstGeom>
          <a:solidFill>
            <a:srgbClr val="2C2C38"/>
          </a:solidFill>
          <a:ln w="12700">
            <a:solidFill>
              <a:srgbClr val="2C2C3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7472" y="257860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9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FOCUS SEGMENTS</a:t>
            </a:r>
            <a:endParaRPr lang="en-US" sz="8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2852928"/>
            <a:ext cx="201168" cy="20116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21792" y="28163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Schools and creches — children aged 2–12</a:t>
            </a:r>
            <a:endParaRPr lang="en-US" sz="11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3200400"/>
            <a:ext cx="201168" cy="20116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21792" y="31638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Frail-care facilities and home nurse programmes</a:t>
            </a:r>
            <a:endParaRPr lang="en-US" sz="110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" y="3547872"/>
            <a:ext cx="201168" cy="20116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21792" y="351129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 clubs, hiking groups and outdoor communities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4480560" y="640080"/>
            <a:ext cx="4572" cy="4059936"/>
          </a:xfrm>
          <a:prstGeom prst="rect">
            <a:avLst/>
          </a:prstGeom>
          <a:solidFill>
            <a:srgbClr val="2C2C38"/>
          </a:solidFill>
          <a:ln w="12700">
            <a:solidFill>
              <a:srgbClr val="2C2C38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4681728" y="640080"/>
            <a:ext cx="2029968" cy="1847088"/>
          </a:xfrm>
          <a:prstGeom prst="rect">
            <a:avLst/>
          </a:prstGeom>
          <a:solidFill>
            <a:srgbClr val="17171C"/>
          </a:solidFill>
          <a:ln w="6350">
            <a:solidFill>
              <a:srgbClr val="2C2C3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4681728" y="640080"/>
            <a:ext cx="29261" cy="1847088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4773168" y="731520"/>
            <a:ext cx="18470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2.4M</a:t>
            </a:r>
            <a:endParaRPr lang="en-US" sz="3200" dirty="0"/>
          </a:p>
        </p:txBody>
      </p:sp>
      <p:sp>
        <p:nvSpPr>
          <p:cNvPr id="26" name="Text 20"/>
          <p:cNvSpPr/>
          <p:nvPr/>
        </p:nvSpPr>
        <p:spPr>
          <a:xfrm>
            <a:off x="4773168" y="1408176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 under 12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4773168" y="1700784"/>
            <a:ext cx="1847088" cy="4572"/>
          </a:xfrm>
          <a:prstGeom prst="rect">
            <a:avLst/>
          </a:prstGeom>
          <a:solidFill>
            <a:srgbClr val="2C2C38"/>
          </a:solidFill>
          <a:ln w="12700">
            <a:solidFill>
              <a:srgbClr val="2C2C38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4773168" y="1773936"/>
            <a:ext cx="18470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Wristband · School bag · Shoe tag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6858000" y="640080"/>
            <a:ext cx="2029968" cy="1847088"/>
          </a:xfrm>
          <a:prstGeom prst="rect">
            <a:avLst/>
          </a:prstGeom>
          <a:solidFill>
            <a:srgbClr val="17171C"/>
          </a:solidFill>
          <a:ln w="6350">
            <a:solidFill>
              <a:srgbClr val="2C2C3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6858000" y="640080"/>
            <a:ext cx="29261" cy="184708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6949440" y="731520"/>
            <a:ext cx="18470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1.1M</a:t>
            </a:r>
            <a:endParaRPr lang="en-US" sz="3200" dirty="0"/>
          </a:p>
        </p:txBody>
      </p:sp>
      <p:sp>
        <p:nvSpPr>
          <p:cNvPr id="32" name="Text 26"/>
          <p:cNvSpPr/>
          <p:nvPr/>
        </p:nvSpPr>
        <p:spPr>
          <a:xfrm>
            <a:off x="6949440" y="1408176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Elderly living alone</a:t>
            </a:r>
            <a:endParaRPr lang="en-US" sz="1100" dirty="0"/>
          </a:p>
        </p:txBody>
      </p:sp>
      <p:sp>
        <p:nvSpPr>
          <p:cNvPr id="33" name="Shape 27"/>
          <p:cNvSpPr/>
          <p:nvPr/>
        </p:nvSpPr>
        <p:spPr>
          <a:xfrm>
            <a:off x="6949440" y="1700784"/>
            <a:ext cx="1847088" cy="4572"/>
          </a:xfrm>
          <a:prstGeom prst="rect">
            <a:avLst/>
          </a:prstGeom>
          <a:solidFill>
            <a:srgbClr val="2C2C38"/>
          </a:solidFill>
          <a:ln w="12700">
            <a:solidFill>
              <a:srgbClr val="2C2C38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6949440" y="1773936"/>
            <a:ext cx="18470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strap · Pendant · Walking stick</a:t>
            </a:r>
            <a:endParaRPr lang="en-US" sz="1000" dirty="0"/>
          </a:p>
        </p:txBody>
      </p:sp>
      <p:sp>
        <p:nvSpPr>
          <p:cNvPr id="35" name="Shape 29"/>
          <p:cNvSpPr/>
          <p:nvPr/>
        </p:nvSpPr>
        <p:spPr>
          <a:xfrm>
            <a:off x="4681728" y="2651760"/>
            <a:ext cx="2029968" cy="1847088"/>
          </a:xfrm>
          <a:prstGeom prst="rect">
            <a:avLst/>
          </a:prstGeom>
          <a:solidFill>
            <a:srgbClr val="17171C"/>
          </a:solidFill>
          <a:ln w="6350">
            <a:solidFill>
              <a:srgbClr val="2C2C3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6" name="Shape 30"/>
          <p:cNvSpPr/>
          <p:nvPr/>
        </p:nvSpPr>
        <p:spPr>
          <a:xfrm>
            <a:off x="4681728" y="2651760"/>
            <a:ext cx="29261" cy="1847088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7" name="Text 31"/>
          <p:cNvSpPr/>
          <p:nvPr/>
        </p:nvSpPr>
        <p:spPr>
          <a:xfrm>
            <a:off x="4773168" y="2743200"/>
            <a:ext cx="18470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4.8M</a:t>
            </a:r>
            <a:endParaRPr lang="en-US" sz="3200" dirty="0"/>
          </a:p>
        </p:txBody>
      </p:sp>
      <p:sp>
        <p:nvSpPr>
          <p:cNvPr id="38" name="Text 32"/>
          <p:cNvSpPr/>
          <p:nvPr/>
        </p:nvSpPr>
        <p:spPr>
          <a:xfrm>
            <a:off x="4773168" y="3419856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adults</a:t>
            </a:r>
            <a:endParaRPr lang="en-US" sz="1100" dirty="0"/>
          </a:p>
        </p:txBody>
      </p:sp>
      <p:sp>
        <p:nvSpPr>
          <p:cNvPr id="39" name="Shape 33"/>
          <p:cNvSpPr/>
          <p:nvPr/>
        </p:nvSpPr>
        <p:spPr>
          <a:xfrm>
            <a:off x="4773168" y="3712464"/>
            <a:ext cx="1847088" cy="4572"/>
          </a:xfrm>
          <a:prstGeom prst="rect">
            <a:avLst/>
          </a:prstGeom>
          <a:solidFill>
            <a:srgbClr val="2C2C38"/>
          </a:solidFill>
          <a:ln w="12700">
            <a:solidFill>
              <a:srgbClr val="2C2C38"/>
            </a:solidFill>
            <a:prstDash val="solid"/>
          </a:ln>
        </p:spPr>
      </p:sp>
      <p:sp>
        <p:nvSpPr>
          <p:cNvPr id="40" name="Text 34"/>
          <p:cNvSpPr/>
          <p:nvPr/>
        </p:nvSpPr>
        <p:spPr>
          <a:xfrm>
            <a:off x="4773168" y="3785616"/>
            <a:ext cx="18470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 band · Helmet · Keyring fob</a:t>
            </a:r>
            <a:endParaRPr lang="en-US" sz="1000" dirty="0"/>
          </a:p>
        </p:txBody>
      </p:sp>
      <p:sp>
        <p:nvSpPr>
          <p:cNvPr id="41" name="Shape 35"/>
          <p:cNvSpPr/>
          <p:nvPr/>
        </p:nvSpPr>
        <p:spPr>
          <a:xfrm>
            <a:off x="6858000" y="2651760"/>
            <a:ext cx="2029968" cy="1847088"/>
          </a:xfrm>
          <a:prstGeom prst="rect">
            <a:avLst/>
          </a:prstGeom>
          <a:solidFill>
            <a:srgbClr val="17171C"/>
          </a:solidFill>
          <a:ln w="6350">
            <a:solidFill>
              <a:srgbClr val="2C2C3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42" name="Shape 36"/>
          <p:cNvSpPr/>
          <p:nvPr/>
        </p:nvSpPr>
        <p:spPr>
          <a:xfrm>
            <a:off x="6858000" y="2651760"/>
            <a:ext cx="29261" cy="1847088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3" name="Text 37"/>
          <p:cNvSpPr/>
          <p:nvPr/>
        </p:nvSpPr>
        <p:spPr>
          <a:xfrm>
            <a:off x="6949440" y="2743200"/>
            <a:ext cx="18470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3.2M</a:t>
            </a:r>
            <a:endParaRPr lang="en-US" sz="3200" dirty="0"/>
          </a:p>
        </p:txBody>
      </p:sp>
      <p:sp>
        <p:nvSpPr>
          <p:cNvPr id="44" name="Text 38"/>
          <p:cNvSpPr/>
          <p:nvPr/>
        </p:nvSpPr>
        <p:spPr>
          <a:xfrm>
            <a:off x="6949440" y="3419856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Chronic illness</a:t>
            </a:r>
            <a:endParaRPr lang="en-US" sz="1100" dirty="0"/>
          </a:p>
        </p:txBody>
      </p:sp>
      <p:sp>
        <p:nvSpPr>
          <p:cNvPr id="45" name="Shape 39"/>
          <p:cNvSpPr/>
          <p:nvPr/>
        </p:nvSpPr>
        <p:spPr>
          <a:xfrm>
            <a:off x="6949440" y="3712464"/>
            <a:ext cx="1847088" cy="4572"/>
          </a:xfrm>
          <a:prstGeom prst="rect">
            <a:avLst/>
          </a:prstGeom>
          <a:solidFill>
            <a:srgbClr val="2C2C38"/>
          </a:solidFill>
          <a:ln w="12700">
            <a:solidFill>
              <a:srgbClr val="2C2C38"/>
            </a:solidFill>
            <a:prstDash val="solid"/>
          </a:ln>
        </p:spPr>
      </p:sp>
      <p:sp>
        <p:nvSpPr>
          <p:cNvPr id="46" name="Text 40"/>
          <p:cNvSpPr/>
          <p:nvPr/>
        </p:nvSpPr>
        <p:spPr>
          <a:xfrm>
            <a:off x="6949440" y="3785616"/>
            <a:ext cx="18470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ID · Allergy tag · ICE card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43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" y="100584"/>
            <a:ext cx="347472" cy="347472"/>
          </a:xfrm>
          <a:prstGeom prst="ellipse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8096" y="11887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innovat3.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029200" y="128016"/>
            <a:ext cx="3767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spc="250" kern="0" dirty="0">
                <a:solidFill>
                  <a:srgbClr val="9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LANDSCAPE</a:t>
            </a:r>
            <a:endParaRPr lang="en-US" sz="700" dirty="0"/>
          </a:p>
        </p:txBody>
      </p:sp>
      <p:sp>
        <p:nvSpPr>
          <p:cNvPr id="6" name="Shape 3"/>
          <p:cNvSpPr/>
          <p:nvPr/>
        </p:nvSpPr>
        <p:spPr>
          <a:xfrm>
            <a:off x="347472" y="521208"/>
            <a:ext cx="8449056" cy="4572"/>
          </a:xfrm>
          <a:prstGeom prst="rect">
            <a:avLst/>
          </a:prstGeom>
          <a:solidFill>
            <a:srgbClr val="2C2C38"/>
          </a:solidFill>
          <a:ln w="12700">
            <a:solidFill>
              <a:srgbClr val="2C2C3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7171C"/>
          </a:solidFill>
          <a:ln w="12700">
            <a:solidFill>
              <a:srgbClr val="17171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0" y="4873752"/>
            <a:ext cx="9144000" cy="4572"/>
          </a:xfrm>
          <a:prstGeom prst="rect">
            <a:avLst/>
          </a:prstGeom>
          <a:solidFill>
            <a:srgbClr val="2C2C38"/>
          </a:solidFill>
          <a:ln w="12700">
            <a:solidFill>
              <a:srgbClr val="2C2C3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47472" y="490118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innovat3.co.za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6053328" y="490118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2026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347472" y="640080"/>
            <a:ext cx="84490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A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 exists. Our combination does not.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347472" y="1078992"/>
            <a:ext cx="84490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Competitors address parts of the problem. Innovat3 is the only end-to-end solution built for South Africa.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47472" y="1664208"/>
            <a:ext cx="2340864" cy="310896"/>
          </a:xfrm>
          <a:prstGeom prst="rect">
            <a:avLst/>
          </a:prstGeom>
          <a:solidFill>
            <a:srgbClr val="1F1F27"/>
          </a:solidFill>
          <a:ln w="5080">
            <a:solidFill>
              <a:srgbClr val="2C2C3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20624" y="168249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2761488" y="1664208"/>
            <a:ext cx="1389888" cy="310896"/>
          </a:xfrm>
          <a:prstGeom prst="rect">
            <a:avLst/>
          </a:prstGeom>
          <a:solidFill>
            <a:srgbClr val="1F1F27"/>
          </a:solidFill>
          <a:ln w="5080">
            <a:solidFill>
              <a:srgbClr val="2C2C3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834640" y="1682496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LifeTags SA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4224528" y="1664208"/>
            <a:ext cx="1389888" cy="310896"/>
          </a:xfrm>
          <a:prstGeom prst="rect">
            <a:avLst/>
          </a:prstGeom>
          <a:solidFill>
            <a:srgbClr val="1F1F27"/>
          </a:solidFill>
          <a:ln w="5080">
            <a:solidFill>
              <a:srgbClr val="2C2C3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297680" y="1682496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Tap2Tag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5687568" y="1664208"/>
            <a:ext cx="1389888" cy="310896"/>
          </a:xfrm>
          <a:prstGeom prst="rect">
            <a:avLst/>
          </a:prstGeom>
          <a:solidFill>
            <a:srgbClr val="1F1F27"/>
          </a:solidFill>
          <a:ln w="5080">
            <a:solidFill>
              <a:srgbClr val="2C2C3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760720" y="1682496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TapMedID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7150608" y="1664208"/>
            <a:ext cx="1536192" cy="310896"/>
          </a:xfrm>
          <a:prstGeom prst="rect">
            <a:avLst/>
          </a:prstGeom>
          <a:solidFill>
            <a:srgbClr val="1C100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223760" y="1682496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innovat3.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347472" y="2011680"/>
            <a:ext cx="2340864" cy="320040"/>
          </a:xfrm>
          <a:prstGeom prst="rect">
            <a:avLst/>
          </a:prstGeom>
          <a:solidFill>
            <a:srgbClr val="17171C"/>
          </a:solidFill>
          <a:ln w="3810">
            <a:solidFill>
              <a:srgbClr val="2C2C3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38912" y="2066544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SA-based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2761488" y="2011680"/>
            <a:ext cx="1389888" cy="320040"/>
          </a:xfrm>
          <a:prstGeom prst="rect">
            <a:avLst/>
          </a:prstGeom>
          <a:solidFill>
            <a:srgbClr val="17171C"/>
          </a:solidFill>
          <a:ln w="3810">
            <a:solidFill>
              <a:srgbClr val="2C2C38"/>
            </a:solidFill>
            <a:prstDash val="solid"/>
          </a:ln>
        </p:spPr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6704" y="2075688"/>
            <a:ext cx="192024" cy="192024"/>
          </a:xfrm>
          <a:prstGeom prst="rect">
            <a:avLst/>
          </a:prstGeom>
        </p:spPr>
      </p:pic>
      <p:sp>
        <p:nvSpPr>
          <p:cNvPr id="27" name="Shape 23"/>
          <p:cNvSpPr/>
          <p:nvPr/>
        </p:nvSpPr>
        <p:spPr>
          <a:xfrm>
            <a:off x="4224528" y="2011680"/>
            <a:ext cx="1389888" cy="320040"/>
          </a:xfrm>
          <a:prstGeom prst="rect">
            <a:avLst/>
          </a:prstGeom>
          <a:solidFill>
            <a:srgbClr val="17171C"/>
          </a:solidFill>
          <a:ln w="3810">
            <a:solidFill>
              <a:srgbClr val="2C2C38"/>
            </a:solidFill>
            <a:prstDash val="solid"/>
          </a:ln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9744" y="2075688"/>
            <a:ext cx="192024" cy="192024"/>
          </a:xfrm>
          <a:prstGeom prst="rect">
            <a:avLst/>
          </a:prstGeom>
        </p:spPr>
      </p:pic>
      <p:sp>
        <p:nvSpPr>
          <p:cNvPr id="29" name="Shape 24"/>
          <p:cNvSpPr/>
          <p:nvPr/>
        </p:nvSpPr>
        <p:spPr>
          <a:xfrm>
            <a:off x="5687568" y="2011680"/>
            <a:ext cx="1389888" cy="320040"/>
          </a:xfrm>
          <a:prstGeom prst="rect">
            <a:avLst/>
          </a:prstGeom>
          <a:solidFill>
            <a:srgbClr val="17171C"/>
          </a:solidFill>
          <a:ln w="3810">
            <a:solidFill>
              <a:srgbClr val="2C2C38"/>
            </a:solidFill>
            <a:prstDash val="solid"/>
          </a:ln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2784" y="2075688"/>
            <a:ext cx="192024" cy="192024"/>
          </a:xfrm>
          <a:prstGeom prst="rect">
            <a:avLst/>
          </a:prstGeom>
        </p:spPr>
      </p:pic>
      <p:sp>
        <p:nvSpPr>
          <p:cNvPr id="31" name="Shape 25"/>
          <p:cNvSpPr/>
          <p:nvPr/>
        </p:nvSpPr>
        <p:spPr>
          <a:xfrm>
            <a:off x="7150608" y="2011680"/>
            <a:ext cx="1536192" cy="320040"/>
          </a:xfrm>
          <a:prstGeom prst="rect">
            <a:avLst/>
          </a:prstGeom>
          <a:solidFill>
            <a:srgbClr val="130C03"/>
          </a:solidFill>
          <a:ln w="3810">
            <a:solidFill>
              <a:srgbClr val="2C2C38"/>
            </a:solidFill>
            <a:prstDash val="solid"/>
          </a:ln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08976" y="2075688"/>
            <a:ext cx="192024" cy="192024"/>
          </a:xfrm>
          <a:prstGeom prst="rect">
            <a:avLst/>
          </a:prstGeom>
        </p:spPr>
      </p:pic>
      <p:sp>
        <p:nvSpPr>
          <p:cNvPr id="33" name="Shape 26"/>
          <p:cNvSpPr/>
          <p:nvPr/>
        </p:nvSpPr>
        <p:spPr>
          <a:xfrm>
            <a:off x="347472" y="2359152"/>
            <a:ext cx="2340864" cy="320040"/>
          </a:xfrm>
          <a:prstGeom prst="rect">
            <a:avLst/>
          </a:prstGeom>
          <a:solidFill>
            <a:srgbClr val="0D0D0F"/>
          </a:solidFill>
          <a:ln w="3810">
            <a:solidFill>
              <a:srgbClr val="2C2C38"/>
            </a:solidFill>
            <a:prstDash val="solid"/>
          </a:ln>
        </p:spPr>
      </p:sp>
      <p:sp>
        <p:nvSpPr>
          <p:cNvPr id="34" name="Text 27"/>
          <p:cNvSpPr/>
          <p:nvPr/>
        </p:nvSpPr>
        <p:spPr>
          <a:xfrm>
            <a:off x="438912" y="2414016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app to scan</a:t>
            </a:r>
            <a:endParaRPr lang="en-US" sz="1100" dirty="0"/>
          </a:p>
        </p:txBody>
      </p:sp>
      <p:sp>
        <p:nvSpPr>
          <p:cNvPr id="35" name="Shape 28"/>
          <p:cNvSpPr/>
          <p:nvPr/>
        </p:nvSpPr>
        <p:spPr>
          <a:xfrm>
            <a:off x="2761488" y="2359152"/>
            <a:ext cx="1389888" cy="320040"/>
          </a:xfrm>
          <a:prstGeom prst="rect">
            <a:avLst/>
          </a:prstGeom>
          <a:solidFill>
            <a:srgbClr val="0D0D0F"/>
          </a:solidFill>
          <a:ln w="3810">
            <a:solidFill>
              <a:srgbClr val="2C2C38"/>
            </a:solidFill>
            <a:prstDash val="solid"/>
          </a:ln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46704" y="2423160"/>
            <a:ext cx="192024" cy="192024"/>
          </a:xfrm>
          <a:prstGeom prst="rect">
            <a:avLst/>
          </a:prstGeom>
        </p:spPr>
      </p:pic>
      <p:sp>
        <p:nvSpPr>
          <p:cNvPr id="37" name="Shape 29"/>
          <p:cNvSpPr/>
          <p:nvPr/>
        </p:nvSpPr>
        <p:spPr>
          <a:xfrm>
            <a:off x="4224528" y="2359152"/>
            <a:ext cx="1389888" cy="320040"/>
          </a:xfrm>
          <a:prstGeom prst="rect">
            <a:avLst/>
          </a:prstGeom>
          <a:solidFill>
            <a:srgbClr val="0D0D0F"/>
          </a:solidFill>
          <a:ln w="3810">
            <a:solidFill>
              <a:srgbClr val="2C2C38"/>
            </a:solidFill>
            <a:prstDash val="solid"/>
          </a:ln>
        </p:spPr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09744" y="2423160"/>
            <a:ext cx="192024" cy="192024"/>
          </a:xfrm>
          <a:prstGeom prst="rect">
            <a:avLst/>
          </a:prstGeom>
        </p:spPr>
      </p:pic>
      <p:sp>
        <p:nvSpPr>
          <p:cNvPr id="39" name="Shape 30"/>
          <p:cNvSpPr/>
          <p:nvPr/>
        </p:nvSpPr>
        <p:spPr>
          <a:xfrm>
            <a:off x="5687568" y="2359152"/>
            <a:ext cx="1389888" cy="320040"/>
          </a:xfrm>
          <a:prstGeom prst="rect">
            <a:avLst/>
          </a:prstGeom>
          <a:solidFill>
            <a:srgbClr val="0D0D0F"/>
          </a:solidFill>
          <a:ln w="3810">
            <a:solidFill>
              <a:srgbClr val="2C2C38"/>
            </a:solidFill>
            <a:prstDash val="solid"/>
          </a:ln>
        </p:spPr>
      </p:sp>
      <p:pic>
        <p:nvPicPr>
          <p:cNvPr id="4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72784" y="2423160"/>
            <a:ext cx="192024" cy="192024"/>
          </a:xfrm>
          <a:prstGeom prst="rect">
            <a:avLst/>
          </a:prstGeom>
        </p:spPr>
      </p:pic>
      <p:sp>
        <p:nvSpPr>
          <p:cNvPr id="41" name="Shape 31"/>
          <p:cNvSpPr/>
          <p:nvPr/>
        </p:nvSpPr>
        <p:spPr>
          <a:xfrm>
            <a:off x="7150608" y="2359152"/>
            <a:ext cx="1536192" cy="320040"/>
          </a:xfrm>
          <a:prstGeom prst="rect">
            <a:avLst/>
          </a:prstGeom>
          <a:solidFill>
            <a:srgbClr val="130C03"/>
          </a:solidFill>
          <a:ln w="3810">
            <a:solidFill>
              <a:srgbClr val="2C2C38"/>
            </a:solidFill>
            <a:prstDash val="solid"/>
          </a:ln>
        </p:spPr>
      </p:sp>
      <p:pic>
        <p:nvPicPr>
          <p:cNvPr id="4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08976" y="2423160"/>
            <a:ext cx="192024" cy="192024"/>
          </a:xfrm>
          <a:prstGeom prst="rect">
            <a:avLst/>
          </a:prstGeom>
        </p:spPr>
      </p:pic>
      <p:sp>
        <p:nvSpPr>
          <p:cNvPr id="43" name="Shape 32"/>
          <p:cNvSpPr/>
          <p:nvPr/>
        </p:nvSpPr>
        <p:spPr>
          <a:xfrm>
            <a:off x="347472" y="2706624"/>
            <a:ext cx="2340864" cy="320040"/>
          </a:xfrm>
          <a:prstGeom prst="rect">
            <a:avLst/>
          </a:prstGeom>
          <a:solidFill>
            <a:srgbClr val="17171C"/>
          </a:solidFill>
          <a:ln w="3810">
            <a:solidFill>
              <a:srgbClr val="2C2C38"/>
            </a:solidFill>
            <a:prstDash val="solid"/>
          </a:ln>
        </p:spPr>
      </p:sp>
      <p:sp>
        <p:nvSpPr>
          <p:cNvPr id="44" name="Text 33"/>
          <p:cNvSpPr/>
          <p:nvPr/>
        </p:nvSpPr>
        <p:spPr>
          <a:xfrm>
            <a:off x="438912" y="276148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cloud profile</a:t>
            </a:r>
            <a:endParaRPr lang="en-US" sz="1100" dirty="0"/>
          </a:p>
        </p:txBody>
      </p:sp>
      <p:sp>
        <p:nvSpPr>
          <p:cNvPr id="45" name="Shape 34"/>
          <p:cNvSpPr/>
          <p:nvPr/>
        </p:nvSpPr>
        <p:spPr>
          <a:xfrm>
            <a:off x="2761488" y="2706624"/>
            <a:ext cx="1389888" cy="320040"/>
          </a:xfrm>
          <a:prstGeom prst="rect">
            <a:avLst/>
          </a:prstGeom>
          <a:solidFill>
            <a:srgbClr val="17171C"/>
          </a:solidFill>
          <a:ln w="3810">
            <a:solidFill>
              <a:srgbClr val="2C2C38"/>
            </a:solidFill>
            <a:prstDash val="solid"/>
          </a:ln>
        </p:spPr>
      </p:sp>
      <p:pic>
        <p:nvPicPr>
          <p:cNvPr id="4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46704" y="2770632"/>
            <a:ext cx="192024" cy="192024"/>
          </a:xfrm>
          <a:prstGeom prst="rect">
            <a:avLst/>
          </a:prstGeom>
        </p:spPr>
      </p:pic>
      <p:sp>
        <p:nvSpPr>
          <p:cNvPr id="47" name="Shape 35"/>
          <p:cNvSpPr/>
          <p:nvPr/>
        </p:nvSpPr>
        <p:spPr>
          <a:xfrm>
            <a:off x="4224528" y="2706624"/>
            <a:ext cx="1389888" cy="320040"/>
          </a:xfrm>
          <a:prstGeom prst="rect">
            <a:avLst/>
          </a:prstGeom>
          <a:solidFill>
            <a:srgbClr val="17171C"/>
          </a:solidFill>
          <a:ln w="3810">
            <a:solidFill>
              <a:srgbClr val="2C2C38"/>
            </a:solidFill>
            <a:prstDash val="solid"/>
          </a:ln>
        </p:spPr>
      </p:sp>
      <p:pic>
        <p:nvPicPr>
          <p:cNvPr id="4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09744" y="2770632"/>
            <a:ext cx="192024" cy="192024"/>
          </a:xfrm>
          <a:prstGeom prst="rect">
            <a:avLst/>
          </a:prstGeom>
        </p:spPr>
      </p:pic>
      <p:sp>
        <p:nvSpPr>
          <p:cNvPr id="49" name="Shape 36"/>
          <p:cNvSpPr/>
          <p:nvPr/>
        </p:nvSpPr>
        <p:spPr>
          <a:xfrm>
            <a:off x="5687568" y="2706624"/>
            <a:ext cx="1389888" cy="320040"/>
          </a:xfrm>
          <a:prstGeom prst="rect">
            <a:avLst/>
          </a:prstGeom>
          <a:solidFill>
            <a:srgbClr val="17171C"/>
          </a:solidFill>
          <a:ln w="3810">
            <a:solidFill>
              <a:srgbClr val="2C2C38"/>
            </a:solidFill>
            <a:prstDash val="solid"/>
          </a:ln>
        </p:spPr>
      </p:sp>
      <p:pic>
        <p:nvPicPr>
          <p:cNvPr id="50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72784" y="2770632"/>
            <a:ext cx="192024" cy="192024"/>
          </a:xfrm>
          <a:prstGeom prst="rect">
            <a:avLst/>
          </a:prstGeom>
        </p:spPr>
      </p:pic>
      <p:sp>
        <p:nvSpPr>
          <p:cNvPr id="51" name="Shape 37"/>
          <p:cNvSpPr/>
          <p:nvPr/>
        </p:nvSpPr>
        <p:spPr>
          <a:xfrm>
            <a:off x="7150608" y="2706624"/>
            <a:ext cx="1536192" cy="320040"/>
          </a:xfrm>
          <a:prstGeom prst="rect">
            <a:avLst/>
          </a:prstGeom>
          <a:solidFill>
            <a:srgbClr val="130C03"/>
          </a:solidFill>
          <a:ln w="3810">
            <a:solidFill>
              <a:srgbClr val="2C2C38"/>
            </a:solidFill>
            <a:prstDash val="solid"/>
          </a:ln>
        </p:spPr>
      </p:sp>
      <p:pic>
        <p:nvPicPr>
          <p:cNvPr id="52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808976" y="2770632"/>
            <a:ext cx="192024" cy="192024"/>
          </a:xfrm>
          <a:prstGeom prst="rect">
            <a:avLst/>
          </a:prstGeom>
        </p:spPr>
      </p:pic>
      <p:sp>
        <p:nvSpPr>
          <p:cNvPr id="53" name="Shape 38"/>
          <p:cNvSpPr/>
          <p:nvPr/>
        </p:nvSpPr>
        <p:spPr>
          <a:xfrm>
            <a:off x="347472" y="3054096"/>
            <a:ext cx="2340864" cy="320040"/>
          </a:xfrm>
          <a:prstGeom prst="rect">
            <a:avLst/>
          </a:prstGeom>
          <a:solidFill>
            <a:srgbClr val="0D0D0F"/>
          </a:solidFill>
          <a:ln w="3810">
            <a:solidFill>
              <a:srgbClr val="2C2C38"/>
            </a:solidFill>
            <a:prstDash val="solid"/>
          </a:ln>
        </p:spPr>
      </p:sp>
      <p:sp>
        <p:nvSpPr>
          <p:cNvPr id="54" name="Text 39"/>
          <p:cNvSpPr/>
          <p:nvPr/>
        </p:nvSpPr>
        <p:spPr>
          <a:xfrm>
            <a:off x="438912" y="310896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on scan</a:t>
            </a:r>
            <a:endParaRPr lang="en-US" sz="1100" dirty="0"/>
          </a:p>
        </p:txBody>
      </p:sp>
      <p:sp>
        <p:nvSpPr>
          <p:cNvPr id="55" name="Shape 40"/>
          <p:cNvSpPr/>
          <p:nvPr/>
        </p:nvSpPr>
        <p:spPr>
          <a:xfrm>
            <a:off x="2761488" y="3054096"/>
            <a:ext cx="1389888" cy="320040"/>
          </a:xfrm>
          <a:prstGeom prst="rect">
            <a:avLst/>
          </a:prstGeom>
          <a:solidFill>
            <a:srgbClr val="0D0D0F"/>
          </a:solidFill>
          <a:ln w="3810">
            <a:solidFill>
              <a:srgbClr val="2C2C38"/>
            </a:solidFill>
            <a:prstDash val="solid"/>
          </a:ln>
        </p:spPr>
      </p:sp>
      <p:pic>
        <p:nvPicPr>
          <p:cNvPr id="56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346704" y="3118104"/>
            <a:ext cx="192024" cy="192024"/>
          </a:xfrm>
          <a:prstGeom prst="rect">
            <a:avLst/>
          </a:prstGeom>
        </p:spPr>
      </p:pic>
      <p:sp>
        <p:nvSpPr>
          <p:cNvPr id="57" name="Shape 41"/>
          <p:cNvSpPr/>
          <p:nvPr/>
        </p:nvSpPr>
        <p:spPr>
          <a:xfrm>
            <a:off x="4224528" y="3054096"/>
            <a:ext cx="1389888" cy="320040"/>
          </a:xfrm>
          <a:prstGeom prst="rect">
            <a:avLst/>
          </a:prstGeom>
          <a:solidFill>
            <a:srgbClr val="0D0D0F"/>
          </a:solidFill>
          <a:ln w="3810">
            <a:solidFill>
              <a:srgbClr val="2C2C38"/>
            </a:solidFill>
            <a:prstDash val="solid"/>
          </a:ln>
        </p:spPr>
      </p:sp>
      <p:pic>
        <p:nvPicPr>
          <p:cNvPr id="58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809744" y="3118104"/>
            <a:ext cx="192024" cy="192024"/>
          </a:xfrm>
          <a:prstGeom prst="rect">
            <a:avLst/>
          </a:prstGeom>
        </p:spPr>
      </p:pic>
      <p:sp>
        <p:nvSpPr>
          <p:cNvPr id="59" name="Shape 42"/>
          <p:cNvSpPr/>
          <p:nvPr/>
        </p:nvSpPr>
        <p:spPr>
          <a:xfrm>
            <a:off x="5687568" y="3054096"/>
            <a:ext cx="1389888" cy="320040"/>
          </a:xfrm>
          <a:prstGeom prst="rect">
            <a:avLst/>
          </a:prstGeom>
          <a:solidFill>
            <a:srgbClr val="0D0D0F"/>
          </a:solidFill>
          <a:ln w="3810">
            <a:solidFill>
              <a:srgbClr val="2C2C38"/>
            </a:solidFill>
            <a:prstDash val="solid"/>
          </a:ln>
        </p:spPr>
      </p:sp>
      <p:pic>
        <p:nvPicPr>
          <p:cNvPr id="60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272784" y="3118104"/>
            <a:ext cx="192024" cy="192024"/>
          </a:xfrm>
          <a:prstGeom prst="rect">
            <a:avLst/>
          </a:prstGeom>
        </p:spPr>
      </p:pic>
      <p:sp>
        <p:nvSpPr>
          <p:cNvPr id="61" name="Shape 43"/>
          <p:cNvSpPr/>
          <p:nvPr/>
        </p:nvSpPr>
        <p:spPr>
          <a:xfrm>
            <a:off x="7150608" y="3054096"/>
            <a:ext cx="1536192" cy="320040"/>
          </a:xfrm>
          <a:prstGeom prst="rect">
            <a:avLst/>
          </a:prstGeom>
          <a:solidFill>
            <a:srgbClr val="130C03"/>
          </a:solidFill>
          <a:ln w="3810">
            <a:solidFill>
              <a:srgbClr val="2C2C38"/>
            </a:solidFill>
            <a:prstDash val="solid"/>
          </a:ln>
        </p:spPr>
      </p:sp>
      <p:pic>
        <p:nvPicPr>
          <p:cNvPr id="62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808976" y="3118104"/>
            <a:ext cx="192024" cy="192024"/>
          </a:xfrm>
          <a:prstGeom prst="rect">
            <a:avLst/>
          </a:prstGeom>
        </p:spPr>
      </p:pic>
      <p:sp>
        <p:nvSpPr>
          <p:cNvPr id="63" name="Shape 44"/>
          <p:cNvSpPr/>
          <p:nvPr/>
        </p:nvSpPr>
        <p:spPr>
          <a:xfrm>
            <a:off x="347472" y="3401568"/>
            <a:ext cx="2340864" cy="320040"/>
          </a:xfrm>
          <a:prstGeom prst="rect">
            <a:avLst/>
          </a:prstGeom>
          <a:solidFill>
            <a:srgbClr val="17171C"/>
          </a:solidFill>
          <a:ln w="3810">
            <a:solidFill>
              <a:srgbClr val="2C2C38"/>
            </a:solidFill>
            <a:prstDash val="solid"/>
          </a:ln>
        </p:spPr>
      </p:sp>
      <p:sp>
        <p:nvSpPr>
          <p:cNvPr id="64" name="Text 45"/>
          <p:cNvSpPr/>
          <p:nvPr/>
        </p:nvSpPr>
        <p:spPr>
          <a:xfrm>
            <a:off x="438912" y="345643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owner alerts</a:t>
            </a:r>
            <a:endParaRPr lang="en-US" sz="1100" dirty="0"/>
          </a:p>
        </p:txBody>
      </p:sp>
      <p:sp>
        <p:nvSpPr>
          <p:cNvPr id="65" name="Shape 46"/>
          <p:cNvSpPr/>
          <p:nvPr/>
        </p:nvSpPr>
        <p:spPr>
          <a:xfrm>
            <a:off x="2761488" y="3401568"/>
            <a:ext cx="1389888" cy="320040"/>
          </a:xfrm>
          <a:prstGeom prst="rect">
            <a:avLst/>
          </a:prstGeom>
          <a:solidFill>
            <a:srgbClr val="17171C"/>
          </a:solidFill>
          <a:ln w="3810">
            <a:solidFill>
              <a:srgbClr val="2C2C38"/>
            </a:solidFill>
            <a:prstDash val="solid"/>
          </a:ln>
        </p:spPr>
      </p:sp>
      <p:pic>
        <p:nvPicPr>
          <p:cNvPr id="66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346704" y="3465576"/>
            <a:ext cx="192024" cy="192024"/>
          </a:xfrm>
          <a:prstGeom prst="rect">
            <a:avLst/>
          </a:prstGeom>
        </p:spPr>
      </p:pic>
      <p:sp>
        <p:nvSpPr>
          <p:cNvPr id="67" name="Shape 47"/>
          <p:cNvSpPr/>
          <p:nvPr/>
        </p:nvSpPr>
        <p:spPr>
          <a:xfrm>
            <a:off x="4224528" y="3401568"/>
            <a:ext cx="1389888" cy="320040"/>
          </a:xfrm>
          <a:prstGeom prst="rect">
            <a:avLst/>
          </a:prstGeom>
          <a:solidFill>
            <a:srgbClr val="17171C"/>
          </a:solidFill>
          <a:ln w="3810">
            <a:solidFill>
              <a:srgbClr val="2C2C38"/>
            </a:solidFill>
            <a:prstDash val="solid"/>
          </a:ln>
        </p:spPr>
      </p:sp>
      <p:pic>
        <p:nvPicPr>
          <p:cNvPr id="68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809744" y="3465576"/>
            <a:ext cx="192024" cy="192024"/>
          </a:xfrm>
          <a:prstGeom prst="rect">
            <a:avLst/>
          </a:prstGeom>
        </p:spPr>
      </p:pic>
      <p:sp>
        <p:nvSpPr>
          <p:cNvPr id="69" name="Shape 48"/>
          <p:cNvSpPr/>
          <p:nvPr/>
        </p:nvSpPr>
        <p:spPr>
          <a:xfrm>
            <a:off x="5687568" y="3401568"/>
            <a:ext cx="1389888" cy="320040"/>
          </a:xfrm>
          <a:prstGeom prst="rect">
            <a:avLst/>
          </a:prstGeom>
          <a:solidFill>
            <a:srgbClr val="17171C"/>
          </a:solidFill>
          <a:ln w="3810">
            <a:solidFill>
              <a:srgbClr val="2C2C38"/>
            </a:solidFill>
            <a:prstDash val="solid"/>
          </a:ln>
        </p:spPr>
      </p:sp>
      <p:pic>
        <p:nvPicPr>
          <p:cNvPr id="70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272784" y="3465576"/>
            <a:ext cx="192024" cy="192024"/>
          </a:xfrm>
          <a:prstGeom prst="rect">
            <a:avLst/>
          </a:prstGeom>
        </p:spPr>
      </p:pic>
      <p:sp>
        <p:nvSpPr>
          <p:cNvPr id="71" name="Shape 49"/>
          <p:cNvSpPr/>
          <p:nvPr/>
        </p:nvSpPr>
        <p:spPr>
          <a:xfrm>
            <a:off x="7150608" y="3401568"/>
            <a:ext cx="1536192" cy="320040"/>
          </a:xfrm>
          <a:prstGeom prst="rect">
            <a:avLst/>
          </a:prstGeom>
          <a:solidFill>
            <a:srgbClr val="130C03"/>
          </a:solidFill>
          <a:ln w="3810">
            <a:solidFill>
              <a:srgbClr val="2C2C38"/>
            </a:solidFill>
            <a:prstDash val="solid"/>
          </a:ln>
        </p:spPr>
      </p:sp>
      <p:pic>
        <p:nvPicPr>
          <p:cNvPr id="72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808976" y="3465576"/>
            <a:ext cx="192024" cy="192024"/>
          </a:xfrm>
          <a:prstGeom prst="rect">
            <a:avLst/>
          </a:prstGeom>
        </p:spPr>
      </p:pic>
      <p:sp>
        <p:nvSpPr>
          <p:cNvPr id="73" name="Shape 50"/>
          <p:cNvSpPr/>
          <p:nvPr/>
        </p:nvSpPr>
        <p:spPr>
          <a:xfrm>
            <a:off x="347472" y="3749040"/>
            <a:ext cx="2340864" cy="320040"/>
          </a:xfrm>
          <a:prstGeom prst="rect">
            <a:avLst/>
          </a:prstGeom>
          <a:solidFill>
            <a:srgbClr val="0D0D0F"/>
          </a:solidFill>
          <a:ln w="3810">
            <a:solidFill>
              <a:srgbClr val="2C2C38"/>
            </a:solidFill>
            <a:prstDash val="solid"/>
          </a:ln>
        </p:spPr>
      </p:sp>
      <p:sp>
        <p:nvSpPr>
          <p:cNvPr id="74" name="Text 51"/>
          <p:cNvSpPr/>
          <p:nvPr/>
        </p:nvSpPr>
        <p:spPr>
          <a:xfrm>
            <a:off x="438912" y="3803904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owner alerts</a:t>
            </a:r>
            <a:endParaRPr lang="en-US" sz="1100" dirty="0"/>
          </a:p>
        </p:txBody>
      </p:sp>
      <p:sp>
        <p:nvSpPr>
          <p:cNvPr id="75" name="Shape 52"/>
          <p:cNvSpPr/>
          <p:nvPr/>
        </p:nvSpPr>
        <p:spPr>
          <a:xfrm>
            <a:off x="2761488" y="3749040"/>
            <a:ext cx="1389888" cy="320040"/>
          </a:xfrm>
          <a:prstGeom prst="rect">
            <a:avLst/>
          </a:prstGeom>
          <a:solidFill>
            <a:srgbClr val="0D0D0F"/>
          </a:solidFill>
          <a:ln w="3810">
            <a:solidFill>
              <a:srgbClr val="2C2C38"/>
            </a:solidFill>
            <a:prstDash val="solid"/>
          </a:ln>
        </p:spPr>
      </p:sp>
      <p:pic>
        <p:nvPicPr>
          <p:cNvPr id="76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346704" y="3813048"/>
            <a:ext cx="192024" cy="192024"/>
          </a:xfrm>
          <a:prstGeom prst="rect">
            <a:avLst/>
          </a:prstGeom>
        </p:spPr>
      </p:pic>
      <p:sp>
        <p:nvSpPr>
          <p:cNvPr id="77" name="Shape 53"/>
          <p:cNvSpPr/>
          <p:nvPr/>
        </p:nvSpPr>
        <p:spPr>
          <a:xfrm>
            <a:off x="4224528" y="3749040"/>
            <a:ext cx="1389888" cy="320040"/>
          </a:xfrm>
          <a:prstGeom prst="rect">
            <a:avLst/>
          </a:prstGeom>
          <a:solidFill>
            <a:srgbClr val="0D0D0F"/>
          </a:solidFill>
          <a:ln w="3810">
            <a:solidFill>
              <a:srgbClr val="2C2C38"/>
            </a:solidFill>
            <a:prstDash val="solid"/>
          </a:ln>
        </p:spPr>
      </p:sp>
      <p:pic>
        <p:nvPicPr>
          <p:cNvPr id="78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809744" y="3813048"/>
            <a:ext cx="192024" cy="192024"/>
          </a:xfrm>
          <a:prstGeom prst="rect">
            <a:avLst/>
          </a:prstGeom>
        </p:spPr>
      </p:pic>
      <p:sp>
        <p:nvSpPr>
          <p:cNvPr id="79" name="Shape 54"/>
          <p:cNvSpPr/>
          <p:nvPr/>
        </p:nvSpPr>
        <p:spPr>
          <a:xfrm>
            <a:off x="5687568" y="3749040"/>
            <a:ext cx="1389888" cy="320040"/>
          </a:xfrm>
          <a:prstGeom prst="rect">
            <a:avLst/>
          </a:prstGeom>
          <a:solidFill>
            <a:srgbClr val="0D0D0F"/>
          </a:solidFill>
          <a:ln w="3810">
            <a:solidFill>
              <a:srgbClr val="2C2C38"/>
            </a:solidFill>
            <a:prstDash val="solid"/>
          </a:ln>
        </p:spPr>
      </p:sp>
      <p:pic>
        <p:nvPicPr>
          <p:cNvPr id="80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272784" y="3813048"/>
            <a:ext cx="192024" cy="192024"/>
          </a:xfrm>
          <a:prstGeom prst="rect">
            <a:avLst/>
          </a:prstGeom>
        </p:spPr>
      </p:pic>
      <p:sp>
        <p:nvSpPr>
          <p:cNvPr id="81" name="Shape 55"/>
          <p:cNvSpPr/>
          <p:nvPr/>
        </p:nvSpPr>
        <p:spPr>
          <a:xfrm>
            <a:off x="7150608" y="3749040"/>
            <a:ext cx="1536192" cy="320040"/>
          </a:xfrm>
          <a:prstGeom prst="rect">
            <a:avLst/>
          </a:prstGeom>
          <a:solidFill>
            <a:srgbClr val="130C03"/>
          </a:solidFill>
          <a:ln w="3810">
            <a:solidFill>
              <a:srgbClr val="2C2C38"/>
            </a:solidFill>
            <a:prstDash val="solid"/>
          </a:ln>
        </p:spPr>
      </p:sp>
      <p:pic>
        <p:nvPicPr>
          <p:cNvPr id="82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808976" y="3813048"/>
            <a:ext cx="192024" cy="192024"/>
          </a:xfrm>
          <a:prstGeom prst="rect">
            <a:avLst/>
          </a:prstGeom>
        </p:spPr>
      </p:pic>
      <p:sp>
        <p:nvSpPr>
          <p:cNvPr id="83" name="Shape 56"/>
          <p:cNvSpPr/>
          <p:nvPr/>
        </p:nvSpPr>
        <p:spPr>
          <a:xfrm>
            <a:off x="347472" y="4096512"/>
            <a:ext cx="2340864" cy="320040"/>
          </a:xfrm>
          <a:prstGeom prst="rect">
            <a:avLst/>
          </a:prstGeom>
          <a:solidFill>
            <a:srgbClr val="17171C"/>
          </a:solidFill>
          <a:ln w="3810">
            <a:solidFill>
              <a:srgbClr val="2C2C38"/>
            </a:solidFill>
            <a:prstDash val="solid"/>
          </a:ln>
        </p:spPr>
      </p:sp>
      <p:sp>
        <p:nvSpPr>
          <p:cNvPr id="84" name="Text 57"/>
          <p:cNvSpPr/>
          <p:nvPr/>
        </p:nvSpPr>
        <p:spPr>
          <a:xfrm>
            <a:off x="438912" y="4151376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3D-printed hardware</a:t>
            </a:r>
            <a:endParaRPr lang="en-US" sz="1100" dirty="0"/>
          </a:p>
        </p:txBody>
      </p:sp>
      <p:sp>
        <p:nvSpPr>
          <p:cNvPr id="85" name="Shape 58"/>
          <p:cNvSpPr/>
          <p:nvPr/>
        </p:nvSpPr>
        <p:spPr>
          <a:xfrm>
            <a:off x="2761488" y="4096512"/>
            <a:ext cx="1389888" cy="320040"/>
          </a:xfrm>
          <a:prstGeom prst="rect">
            <a:avLst/>
          </a:prstGeom>
          <a:solidFill>
            <a:srgbClr val="17171C"/>
          </a:solidFill>
          <a:ln w="3810">
            <a:solidFill>
              <a:srgbClr val="2C2C38"/>
            </a:solidFill>
            <a:prstDash val="solid"/>
          </a:ln>
        </p:spPr>
      </p:sp>
      <p:pic>
        <p:nvPicPr>
          <p:cNvPr id="86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3346704" y="4160520"/>
            <a:ext cx="192024" cy="192024"/>
          </a:xfrm>
          <a:prstGeom prst="rect">
            <a:avLst/>
          </a:prstGeom>
        </p:spPr>
      </p:pic>
      <p:sp>
        <p:nvSpPr>
          <p:cNvPr id="87" name="Shape 59"/>
          <p:cNvSpPr/>
          <p:nvPr/>
        </p:nvSpPr>
        <p:spPr>
          <a:xfrm>
            <a:off x="4224528" y="4096512"/>
            <a:ext cx="1389888" cy="320040"/>
          </a:xfrm>
          <a:prstGeom prst="rect">
            <a:avLst/>
          </a:prstGeom>
          <a:solidFill>
            <a:srgbClr val="17171C"/>
          </a:solidFill>
          <a:ln w="3810">
            <a:solidFill>
              <a:srgbClr val="2C2C38"/>
            </a:solidFill>
            <a:prstDash val="solid"/>
          </a:ln>
        </p:spPr>
      </p:sp>
      <p:pic>
        <p:nvPicPr>
          <p:cNvPr id="88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4809744" y="4160520"/>
            <a:ext cx="192024" cy="192024"/>
          </a:xfrm>
          <a:prstGeom prst="rect">
            <a:avLst/>
          </a:prstGeom>
        </p:spPr>
      </p:pic>
      <p:sp>
        <p:nvSpPr>
          <p:cNvPr id="89" name="Shape 60"/>
          <p:cNvSpPr/>
          <p:nvPr/>
        </p:nvSpPr>
        <p:spPr>
          <a:xfrm>
            <a:off x="5687568" y="4096512"/>
            <a:ext cx="1389888" cy="320040"/>
          </a:xfrm>
          <a:prstGeom prst="rect">
            <a:avLst/>
          </a:prstGeom>
          <a:solidFill>
            <a:srgbClr val="17171C"/>
          </a:solidFill>
          <a:ln w="3810">
            <a:solidFill>
              <a:srgbClr val="2C2C38"/>
            </a:solidFill>
            <a:prstDash val="solid"/>
          </a:ln>
        </p:spPr>
      </p:sp>
      <p:pic>
        <p:nvPicPr>
          <p:cNvPr id="90" name="Image 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272784" y="4160520"/>
            <a:ext cx="192024" cy="192024"/>
          </a:xfrm>
          <a:prstGeom prst="rect">
            <a:avLst/>
          </a:prstGeom>
        </p:spPr>
      </p:pic>
      <p:sp>
        <p:nvSpPr>
          <p:cNvPr id="91" name="Shape 61"/>
          <p:cNvSpPr/>
          <p:nvPr/>
        </p:nvSpPr>
        <p:spPr>
          <a:xfrm>
            <a:off x="7150608" y="4096512"/>
            <a:ext cx="1536192" cy="320040"/>
          </a:xfrm>
          <a:prstGeom prst="rect">
            <a:avLst/>
          </a:prstGeom>
          <a:solidFill>
            <a:srgbClr val="130C03"/>
          </a:solidFill>
          <a:ln w="3810">
            <a:solidFill>
              <a:srgbClr val="2C2C38"/>
            </a:solidFill>
            <a:prstDash val="solid"/>
          </a:ln>
        </p:spPr>
      </p:sp>
      <p:pic>
        <p:nvPicPr>
          <p:cNvPr id="92" name="Image 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808976" y="4160520"/>
            <a:ext cx="192024" cy="192024"/>
          </a:xfrm>
          <a:prstGeom prst="rect">
            <a:avLst/>
          </a:prstGeom>
        </p:spPr>
      </p:pic>
      <p:sp>
        <p:nvSpPr>
          <p:cNvPr id="93" name="Shape 62"/>
          <p:cNvSpPr/>
          <p:nvPr/>
        </p:nvSpPr>
        <p:spPr>
          <a:xfrm>
            <a:off x="347472" y="4443984"/>
            <a:ext cx="2340864" cy="320040"/>
          </a:xfrm>
          <a:prstGeom prst="rect">
            <a:avLst/>
          </a:prstGeom>
          <a:solidFill>
            <a:srgbClr val="0D0D0F"/>
          </a:solidFill>
          <a:ln w="3810">
            <a:solidFill>
              <a:srgbClr val="2C2C38"/>
            </a:solidFill>
            <a:prstDash val="solid"/>
          </a:ln>
        </p:spPr>
      </p:sp>
      <p:sp>
        <p:nvSpPr>
          <p:cNvPr id="94" name="Text 63"/>
          <p:cNvSpPr/>
          <p:nvPr/>
        </p:nvSpPr>
        <p:spPr>
          <a:xfrm>
            <a:off x="438912" y="449884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model</a:t>
            </a:r>
            <a:endParaRPr lang="en-US" sz="1100" dirty="0"/>
          </a:p>
        </p:txBody>
      </p:sp>
      <p:sp>
        <p:nvSpPr>
          <p:cNvPr id="95" name="Shape 64"/>
          <p:cNvSpPr/>
          <p:nvPr/>
        </p:nvSpPr>
        <p:spPr>
          <a:xfrm>
            <a:off x="2761488" y="4443984"/>
            <a:ext cx="1389888" cy="320040"/>
          </a:xfrm>
          <a:prstGeom prst="rect">
            <a:avLst/>
          </a:prstGeom>
          <a:solidFill>
            <a:srgbClr val="0D0D0F"/>
          </a:solidFill>
          <a:ln w="3810">
            <a:solidFill>
              <a:srgbClr val="2C2C38"/>
            </a:solidFill>
            <a:prstDash val="solid"/>
          </a:ln>
        </p:spPr>
      </p:sp>
      <p:pic>
        <p:nvPicPr>
          <p:cNvPr id="96" name="Image 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3346704" y="4507992"/>
            <a:ext cx="192024" cy="192024"/>
          </a:xfrm>
          <a:prstGeom prst="rect">
            <a:avLst/>
          </a:prstGeom>
        </p:spPr>
      </p:pic>
      <p:sp>
        <p:nvSpPr>
          <p:cNvPr id="97" name="Shape 65"/>
          <p:cNvSpPr/>
          <p:nvPr/>
        </p:nvSpPr>
        <p:spPr>
          <a:xfrm>
            <a:off x="4224528" y="4443984"/>
            <a:ext cx="1389888" cy="320040"/>
          </a:xfrm>
          <a:prstGeom prst="rect">
            <a:avLst/>
          </a:prstGeom>
          <a:solidFill>
            <a:srgbClr val="0D0D0F"/>
          </a:solidFill>
          <a:ln w="3810">
            <a:solidFill>
              <a:srgbClr val="2C2C38"/>
            </a:solidFill>
            <a:prstDash val="solid"/>
          </a:ln>
        </p:spPr>
      </p:sp>
      <p:pic>
        <p:nvPicPr>
          <p:cNvPr id="98" name="Image 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4809744" y="4507992"/>
            <a:ext cx="192024" cy="192024"/>
          </a:xfrm>
          <a:prstGeom prst="rect">
            <a:avLst/>
          </a:prstGeom>
        </p:spPr>
      </p:pic>
      <p:sp>
        <p:nvSpPr>
          <p:cNvPr id="99" name="Shape 66"/>
          <p:cNvSpPr/>
          <p:nvPr/>
        </p:nvSpPr>
        <p:spPr>
          <a:xfrm>
            <a:off x="5687568" y="4443984"/>
            <a:ext cx="1389888" cy="320040"/>
          </a:xfrm>
          <a:prstGeom prst="rect">
            <a:avLst/>
          </a:prstGeom>
          <a:solidFill>
            <a:srgbClr val="0D0D0F"/>
          </a:solidFill>
          <a:ln w="3810">
            <a:solidFill>
              <a:srgbClr val="2C2C38"/>
            </a:solidFill>
            <a:prstDash val="solid"/>
          </a:ln>
        </p:spPr>
      </p:sp>
      <p:pic>
        <p:nvPicPr>
          <p:cNvPr id="100" name="Image 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6272784" y="4507992"/>
            <a:ext cx="192024" cy="192024"/>
          </a:xfrm>
          <a:prstGeom prst="rect">
            <a:avLst/>
          </a:prstGeom>
        </p:spPr>
      </p:pic>
      <p:sp>
        <p:nvSpPr>
          <p:cNvPr id="101" name="Shape 67"/>
          <p:cNvSpPr/>
          <p:nvPr/>
        </p:nvSpPr>
        <p:spPr>
          <a:xfrm>
            <a:off x="7150608" y="4443984"/>
            <a:ext cx="1536192" cy="320040"/>
          </a:xfrm>
          <a:prstGeom prst="rect">
            <a:avLst/>
          </a:prstGeom>
          <a:solidFill>
            <a:srgbClr val="130C03"/>
          </a:solidFill>
          <a:ln w="3810">
            <a:solidFill>
              <a:srgbClr val="2C2C38"/>
            </a:solidFill>
            <a:prstDash val="solid"/>
          </a:ln>
        </p:spPr>
      </p:sp>
      <p:pic>
        <p:nvPicPr>
          <p:cNvPr id="102" name="Image 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7808976" y="4507992"/>
            <a:ext cx="192024" cy="19202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43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" y="100584"/>
            <a:ext cx="347472" cy="347472"/>
          </a:xfrm>
          <a:prstGeom prst="ellipse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8096" y="11887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innovat3.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029200" y="128016"/>
            <a:ext cx="3767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spc="250" kern="0" dirty="0">
                <a:solidFill>
                  <a:srgbClr val="9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700" dirty="0"/>
          </a:p>
        </p:txBody>
      </p:sp>
      <p:sp>
        <p:nvSpPr>
          <p:cNvPr id="6" name="Shape 3"/>
          <p:cNvSpPr/>
          <p:nvPr/>
        </p:nvSpPr>
        <p:spPr>
          <a:xfrm>
            <a:off x="347472" y="521208"/>
            <a:ext cx="8449056" cy="4572"/>
          </a:xfrm>
          <a:prstGeom prst="rect">
            <a:avLst/>
          </a:prstGeom>
          <a:solidFill>
            <a:srgbClr val="2C2C38"/>
          </a:solidFill>
          <a:ln w="12700">
            <a:solidFill>
              <a:srgbClr val="2C2C3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7171C"/>
          </a:solidFill>
          <a:ln w="12700">
            <a:solidFill>
              <a:srgbClr val="17171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0" y="4873752"/>
            <a:ext cx="9144000" cy="4572"/>
          </a:xfrm>
          <a:prstGeom prst="rect">
            <a:avLst/>
          </a:prstGeom>
          <a:solidFill>
            <a:srgbClr val="2C2C38"/>
          </a:solidFill>
          <a:ln w="12700">
            <a:solidFill>
              <a:srgbClr val="2C2C3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47472" y="490118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innovat3.co.za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6053328" y="490118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2026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347472" y="640080"/>
            <a:ext cx="84490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A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+ hardware.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347472" y="1078992"/>
            <a:ext cx="84490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Predictable monthly recurring revenue plus a one-time hardware fee per tag. Estimated margins of 65–80% at scale.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47472" y="1554480"/>
            <a:ext cx="2761488" cy="3474720"/>
          </a:xfrm>
          <a:prstGeom prst="rect">
            <a:avLst/>
          </a:prstGeom>
          <a:solidFill>
            <a:srgbClr val="17171C"/>
          </a:solidFill>
          <a:ln w="6350">
            <a:solidFill>
              <a:srgbClr val="2C2C3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47472" y="1554480"/>
            <a:ext cx="2761488" cy="29261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93776" y="162763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493776" y="1883664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A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R89</a:t>
            </a:r>
            <a:endParaRPr lang="en-US" sz="4400" dirty="0"/>
          </a:p>
        </p:txBody>
      </p:sp>
      <p:sp>
        <p:nvSpPr>
          <p:cNvPr id="17" name="Text 14"/>
          <p:cNvSpPr/>
          <p:nvPr/>
        </p:nvSpPr>
        <p:spPr>
          <a:xfrm>
            <a:off x="493776" y="256032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/month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93776" y="279806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R199 one-off · 1 tag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93776" y="3035808"/>
            <a:ext cx="2468880" cy="4572"/>
          </a:xfrm>
          <a:prstGeom prst="rect">
            <a:avLst/>
          </a:prstGeom>
          <a:solidFill>
            <a:srgbClr val="2C2C38"/>
          </a:solidFill>
          <a:ln w="12700">
            <a:solidFill>
              <a:srgbClr val="2C2C38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" y="3191256"/>
            <a:ext cx="182880" cy="18288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749808" y="3127248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person · 1 custom NFC tag</a:t>
            </a:r>
            <a:endParaRPr lang="en-US" sz="1100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" y="3611880"/>
            <a:ext cx="182880" cy="18288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749808" y="3547872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2 emergency contacts</a:t>
            </a:r>
            <a:endParaRPr lang="en-US" sz="1100" dirty="0"/>
          </a:p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" y="4032504"/>
            <a:ext cx="182880" cy="18288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49808" y="3968496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+ Telegram GPS alerts</a:t>
            </a:r>
            <a:endParaRPr lang="en-US" sz="1100" dirty="0"/>
          </a:p>
        </p:txBody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" y="4453128"/>
            <a:ext cx="182880" cy="18288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49808" y="4389120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profile + scan history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3163824" y="1554480"/>
            <a:ext cx="2761488" cy="3474720"/>
          </a:xfrm>
          <a:prstGeom prst="rect">
            <a:avLst/>
          </a:prstGeom>
          <a:solidFill>
            <a:srgbClr val="17171C"/>
          </a:solidFill>
          <a:ln w="6350">
            <a:solidFill>
              <a:srgbClr val="2C2C3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3163824" y="1554480"/>
            <a:ext cx="2761488" cy="29261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4370832" y="1609344"/>
            <a:ext cx="1463040" cy="23774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4370832" y="162763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POPULAR</a:t>
            </a:r>
            <a:endParaRPr lang="en-US" sz="750" dirty="0"/>
          </a:p>
        </p:txBody>
      </p:sp>
      <p:sp>
        <p:nvSpPr>
          <p:cNvPr id="32" name="Text 25"/>
          <p:cNvSpPr/>
          <p:nvPr/>
        </p:nvSpPr>
        <p:spPr>
          <a:xfrm>
            <a:off x="3310128" y="162763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</a:t>
            </a:r>
            <a:endParaRPr lang="en-US" sz="900" dirty="0"/>
          </a:p>
        </p:txBody>
      </p:sp>
      <p:sp>
        <p:nvSpPr>
          <p:cNvPr id="33" name="Text 26"/>
          <p:cNvSpPr/>
          <p:nvPr/>
        </p:nvSpPr>
        <p:spPr>
          <a:xfrm>
            <a:off x="3310128" y="1883664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A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R149</a:t>
            </a:r>
            <a:endParaRPr lang="en-US" sz="4400" dirty="0"/>
          </a:p>
        </p:txBody>
      </p:sp>
      <p:sp>
        <p:nvSpPr>
          <p:cNvPr id="34" name="Text 27"/>
          <p:cNvSpPr/>
          <p:nvPr/>
        </p:nvSpPr>
        <p:spPr>
          <a:xfrm>
            <a:off x="3310128" y="256032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/month</a:t>
            </a:r>
            <a:endParaRPr lang="en-US" sz="1000" dirty="0"/>
          </a:p>
        </p:txBody>
      </p:sp>
      <p:sp>
        <p:nvSpPr>
          <p:cNvPr id="35" name="Text 28"/>
          <p:cNvSpPr/>
          <p:nvPr/>
        </p:nvSpPr>
        <p:spPr>
          <a:xfrm>
            <a:off x="3310128" y="279806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R199 per tag</a:t>
            </a:r>
            <a:endParaRPr lang="en-US" sz="1000" dirty="0"/>
          </a:p>
        </p:txBody>
      </p:sp>
      <p:sp>
        <p:nvSpPr>
          <p:cNvPr id="36" name="Shape 29"/>
          <p:cNvSpPr/>
          <p:nvPr/>
        </p:nvSpPr>
        <p:spPr>
          <a:xfrm>
            <a:off x="3310128" y="3035808"/>
            <a:ext cx="2468880" cy="4572"/>
          </a:xfrm>
          <a:prstGeom prst="rect">
            <a:avLst/>
          </a:prstGeom>
          <a:solidFill>
            <a:srgbClr val="2C2C38"/>
          </a:solidFill>
          <a:ln w="12700">
            <a:solidFill>
              <a:srgbClr val="2C2C38"/>
            </a:solidFill>
            <a:prstDash val="solid"/>
          </a:ln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10128" y="3191256"/>
            <a:ext cx="182880" cy="182880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3566160" y="3127248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4 people · 4 custom tags</a:t>
            </a:r>
            <a:endParaRPr lang="en-US" sz="1100" dirty="0"/>
          </a:p>
        </p:txBody>
      </p:sp>
      <p:pic>
        <p:nvPicPr>
          <p:cNvPr id="3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10128" y="3611880"/>
            <a:ext cx="182880" cy="182880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3566160" y="3547872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emergency contacts per member</a:t>
            </a:r>
            <a:endParaRPr lang="en-US" sz="1100" dirty="0"/>
          </a:p>
        </p:txBody>
      </p:sp>
      <p:pic>
        <p:nvPicPr>
          <p:cNvPr id="4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10128" y="4032504"/>
            <a:ext cx="182880" cy="182880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3566160" y="3968496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dashboard · per-member alerts</a:t>
            </a:r>
            <a:endParaRPr lang="en-US" sz="1100" dirty="0"/>
          </a:p>
        </p:txBody>
      </p:sp>
      <p:pic>
        <p:nvPicPr>
          <p:cNvPr id="4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10128" y="4453128"/>
            <a:ext cx="182880" cy="182880"/>
          </a:xfrm>
          <a:prstGeom prst="rect">
            <a:avLst/>
          </a:prstGeom>
        </p:spPr>
      </p:pic>
      <p:sp>
        <p:nvSpPr>
          <p:cNvPr id="44" name="Text 33"/>
          <p:cNvSpPr/>
          <p:nvPr/>
        </p:nvSpPr>
        <p:spPr>
          <a:xfrm>
            <a:off x="3566160" y="4389120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GPS history + priority support</a:t>
            </a:r>
            <a:endParaRPr lang="en-US" sz="1100" dirty="0"/>
          </a:p>
        </p:txBody>
      </p:sp>
      <p:sp>
        <p:nvSpPr>
          <p:cNvPr id="45" name="Shape 34"/>
          <p:cNvSpPr/>
          <p:nvPr/>
        </p:nvSpPr>
        <p:spPr>
          <a:xfrm>
            <a:off x="5980176" y="1554480"/>
            <a:ext cx="2761488" cy="3474720"/>
          </a:xfrm>
          <a:prstGeom prst="rect">
            <a:avLst/>
          </a:prstGeom>
          <a:solidFill>
            <a:srgbClr val="17171C"/>
          </a:solidFill>
          <a:ln w="6350">
            <a:solidFill>
              <a:srgbClr val="2C2C3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46" name="Shape 35"/>
          <p:cNvSpPr/>
          <p:nvPr/>
        </p:nvSpPr>
        <p:spPr>
          <a:xfrm>
            <a:off x="5980176" y="1554480"/>
            <a:ext cx="2761488" cy="29261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47" name="Text 36"/>
          <p:cNvSpPr/>
          <p:nvPr/>
        </p:nvSpPr>
        <p:spPr>
          <a:xfrm>
            <a:off x="6126480" y="162763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</a:t>
            </a:r>
            <a:endParaRPr lang="en-US" sz="900" dirty="0"/>
          </a:p>
        </p:txBody>
      </p:sp>
      <p:sp>
        <p:nvSpPr>
          <p:cNvPr id="48" name="Text 37"/>
          <p:cNvSpPr/>
          <p:nvPr/>
        </p:nvSpPr>
        <p:spPr>
          <a:xfrm>
            <a:off x="6126480" y="1883664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A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R199</a:t>
            </a:r>
            <a:endParaRPr lang="en-US" sz="4400" dirty="0"/>
          </a:p>
        </p:txBody>
      </p:sp>
      <p:sp>
        <p:nvSpPr>
          <p:cNvPr id="49" name="Text 38"/>
          <p:cNvSpPr/>
          <p:nvPr/>
        </p:nvSpPr>
        <p:spPr>
          <a:xfrm>
            <a:off x="6126480" y="256032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once-off</a:t>
            </a:r>
            <a:endParaRPr lang="en-US" sz="1000" dirty="0"/>
          </a:p>
        </p:txBody>
      </p:sp>
      <p:sp>
        <p:nvSpPr>
          <p:cNvPr id="50" name="Text 39"/>
          <p:cNvSpPr/>
          <p:nvPr/>
        </p:nvSpPr>
        <p:spPr>
          <a:xfrm>
            <a:off x="6126480" y="279806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R199 per tag · Ages 65+</a:t>
            </a:r>
            <a:endParaRPr lang="en-US" sz="1000" dirty="0"/>
          </a:p>
        </p:txBody>
      </p:sp>
      <p:sp>
        <p:nvSpPr>
          <p:cNvPr id="51" name="Shape 40"/>
          <p:cNvSpPr/>
          <p:nvPr/>
        </p:nvSpPr>
        <p:spPr>
          <a:xfrm>
            <a:off x="6126480" y="3035808"/>
            <a:ext cx="2468880" cy="4572"/>
          </a:xfrm>
          <a:prstGeom prst="rect">
            <a:avLst/>
          </a:prstGeom>
          <a:solidFill>
            <a:srgbClr val="2C2C38"/>
          </a:solidFill>
          <a:ln w="12700">
            <a:solidFill>
              <a:srgbClr val="2C2C38"/>
            </a:solidFill>
            <a:prstDash val="solid"/>
          </a:ln>
        </p:spPr>
      </p:sp>
      <p:pic>
        <p:nvPicPr>
          <p:cNvPr id="5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26480" y="3191256"/>
            <a:ext cx="182880" cy="182880"/>
          </a:xfrm>
          <a:prstGeom prst="rect">
            <a:avLst/>
          </a:prstGeom>
        </p:spPr>
      </p:pic>
      <p:sp>
        <p:nvSpPr>
          <p:cNvPr id="53" name="Text 41"/>
          <p:cNvSpPr/>
          <p:nvPr/>
        </p:nvSpPr>
        <p:spPr>
          <a:xfrm>
            <a:off x="6382512" y="3127248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Exclusively for people aged 65+</a:t>
            </a:r>
            <a:endParaRPr lang="en-US" sz="1100" dirty="0"/>
          </a:p>
        </p:txBody>
      </p:sp>
      <p:pic>
        <p:nvPicPr>
          <p:cNvPr id="54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26480" y="3611880"/>
            <a:ext cx="182880" cy="182880"/>
          </a:xfrm>
          <a:prstGeom prst="rect">
            <a:avLst/>
          </a:prstGeom>
        </p:spPr>
      </p:pic>
      <p:sp>
        <p:nvSpPr>
          <p:cNvPr id="55" name="Text 42"/>
          <p:cNvSpPr/>
          <p:nvPr/>
        </p:nvSpPr>
        <p:spPr>
          <a:xfrm>
            <a:off x="6382512" y="3547872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monthly subscription for life</a:t>
            </a:r>
            <a:endParaRPr lang="en-US" sz="1100" dirty="0"/>
          </a:p>
        </p:txBody>
      </p:sp>
      <p:pic>
        <p:nvPicPr>
          <p:cNvPr id="56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26480" y="4032504"/>
            <a:ext cx="182880" cy="182880"/>
          </a:xfrm>
          <a:prstGeom prst="rect">
            <a:avLst/>
          </a:prstGeom>
        </p:spPr>
      </p:pic>
      <p:sp>
        <p:nvSpPr>
          <p:cNvPr id="57" name="Text 43"/>
          <p:cNvSpPr/>
          <p:nvPr/>
        </p:nvSpPr>
        <p:spPr>
          <a:xfrm>
            <a:off x="6382512" y="3968496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contacts + SMS alerts</a:t>
            </a:r>
            <a:endParaRPr lang="en-US" sz="1100" dirty="0"/>
          </a:p>
        </p:txBody>
      </p:sp>
      <p:pic>
        <p:nvPicPr>
          <p:cNvPr id="58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126480" y="4453128"/>
            <a:ext cx="182880" cy="182880"/>
          </a:xfrm>
          <a:prstGeom prst="rect">
            <a:avLst/>
          </a:prstGeom>
        </p:spPr>
      </p:pic>
      <p:sp>
        <p:nvSpPr>
          <p:cNvPr id="59" name="Text 44"/>
          <p:cNvSpPr/>
          <p:nvPr/>
        </p:nvSpPr>
        <p:spPr>
          <a:xfrm>
            <a:off x="6382512" y="4389120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history + free replacements</a:t>
            </a:r>
            <a:endParaRPr lang="en-US" sz="1100" dirty="0"/>
          </a:p>
        </p:txBody>
      </p:sp>
      <p:sp>
        <p:nvSpPr>
          <p:cNvPr id="60" name="Shape 45"/>
          <p:cNvSpPr/>
          <p:nvPr/>
        </p:nvSpPr>
        <p:spPr>
          <a:xfrm>
            <a:off x="347472" y="5047488"/>
            <a:ext cx="8449056" cy="64008"/>
          </a:xfrm>
          <a:prstGeom prst="rect">
            <a:avLst/>
          </a:prstGeom>
          <a:solidFill>
            <a:srgbClr val="1F1F27"/>
          </a:solidFill>
          <a:ln w="5080">
            <a:solidFill>
              <a:srgbClr val="2C2C38"/>
            </a:solidFill>
            <a:prstDash val="solid"/>
          </a:ln>
        </p:spPr>
      </p:sp>
      <p:sp>
        <p:nvSpPr>
          <p:cNvPr id="61" name="Text 46"/>
          <p:cNvSpPr/>
          <p:nvPr/>
        </p:nvSpPr>
        <p:spPr>
          <a:xfrm>
            <a:off x="484632" y="5047488"/>
            <a:ext cx="8174736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Reseller programme — earn 20% monthly commission on every active subscriber you refer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43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" y="100584"/>
            <a:ext cx="347472" cy="347472"/>
          </a:xfrm>
          <a:prstGeom prst="ellipse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8096" y="11887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innovat3.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029200" y="128016"/>
            <a:ext cx="3767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spc="250" kern="0" dirty="0">
                <a:solidFill>
                  <a:srgbClr val="9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PROJECTIONS</a:t>
            </a:r>
            <a:endParaRPr lang="en-US" sz="700" dirty="0"/>
          </a:p>
        </p:txBody>
      </p:sp>
      <p:sp>
        <p:nvSpPr>
          <p:cNvPr id="6" name="Shape 3"/>
          <p:cNvSpPr/>
          <p:nvPr/>
        </p:nvSpPr>
        <p:spPr>
          <a:xfrm>
            <a:off x="347472" y="521208"/>
            <a:ext cx="8449056" cy="4572"/>
          </a:xfrm>
          <a:prstGeom prst="rect">
            <a:avLst/>
          </a:prstGeom>
          <a:solidFill>
            <a:srgbClr val="2C2C38"/>
          </a:solidFill>
          <a:ln w="12700">
            <a:solidFill>
              <a:srgbClr val="2C2C3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7171C"/>
          </a:solidFill>
          <a:ln w="12700">
            <a:solidFill>
              <a:srgbClr val="17171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0" y="4873752"/>
            <a:ext cx="9144000" cy="4572"/>
          </a:xfrm>
          <a:prstGeom prst="rect">
            <a:avLst/>
          </a:prstGeom>
          <a:solidFill>
            <a:srgbClr val="2C2C38"/>
          </a:solidFill>
          <a:ln w="12700">
            <a:solidFill>
              <a:srgbClr val="2C2C3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47472" y="490118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innovat3.co.za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6053328" y="490118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2026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347472" y="640080"/>
            <a:ext cx="84490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A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 path to R996K annual run rate in 24 months.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347472" y="1078992"/>
            <a:ext cx="84490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cost ~R45 · Platform hosting ~R200/month · Estimated margin 65–80% at scale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47472" y="1389888"/>
            <a:ext cx="2011680" cy="804672"/>
          </a:xfrm>
          <a:prstGeom prst="rect">
            <a:avLst/>
          </a:prstGeom>
          <a:solidFill>
            <a:srgbClr val="17171C"/>
          </a:solidFill>
          <a:ln w="6350">
            <a:solidFill>
              <a:srgbClr val="2C2C3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47472" y="1389888"/>
            <a:ext cx="29261" cy="804672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38912" y="1426464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R14,785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438912" y="188366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6 MRR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2523744" y="1389888"/>
            <a:ext cx="2011680" cy="804672"/>
          </a:xfrm>
          <a:prstGeom prst="rect">
            <a:avLst/>
          </a:prstGeom>
          <a:solidFill>
            <a:srgbClr val="17171C"/>
          </a:solidFill>
          <a:ln w="6350">
            <a:solidFill>
              <a:srgbClr val="2C2C3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2523744" y="1389888"/>
            <a:ext cx="29261" cy="8046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615184" y="1426464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R421K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2615184" y="188366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12 Annual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4700016" y="1389888"/>
            <a:ext cx="2011680" cy="804672"/>
          </a:xfrm>
          <a:prstGeom prst="rect">
            <a:avLst/>
          </a:prstGeom>
          <a:solidFill>
            <a:srgbClr val="17171C"/>
          </a:solidFill>
          <a:ln w="6350">
            <a:solidFill>
              <a:srgbClr val="2C2C3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700016" y="1389888"/>
            <a:ext cx="29261" cy="804672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791456" y="1426464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R996K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4791456" y="188366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24 Annual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6876288" y="1389888"/>
            <a:ext cx="2011680" cy="804672"/>
          </a:xfrm>
          <a:prstGeom prst="rect">
            <a:avLst/>
          </a:prstGeom>
          <a:solidFill>
            <a:srgbClr val="17171C"/>
          </a:solidFill>
          <a:ln w="6350">
            <a:solidFill>
              <a:srgbClr val="2C2C3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876288" y="1389888"/>
            <a:ext cx="29261" cy="80467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967728" y="1426464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65–80%</a:t>
            </a:r>
            <a:endParaRPr lang="en-US" sz="2200" dirty="0"/>
          </a:p>
        </p:txBody>
      </p:sp>
      <p:sp>
        <p:nvSpPr>
          <p:cNvPr id="28" name="Text 25"/>
          <p:cNvSpPr/>
          <p:nvPr/>
        </p:nvSpPr>
        <p:spPr>
          <a:xfrm>
            <a:off x="6967728" y="188366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Margin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7472" y="2340864"/>
          <a:ext cx="8449056" cy="2359152"/>
        </p:xfrm>
        <a:graphic>
          <a:graphicData uri="http://schemas.openxmlformats.org/drawingml/2006/table">
            <a:tbl>
              <a:tblPr/>
              <a:tblGrid>
                <a:gridCol w="1408176"/>
                <a:gridCol w="1408176"/>
                <a:gridCol w="1408176"/>
                <a:gridCol w="1408176"/>
                <a:gridCol w="1408176"/>
                <a:gridCol w="1408176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9898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AEA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AEA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Family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AEA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973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Rev (MRR)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 Run Rate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27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898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AEA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AEA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AEA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973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R5,570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R66,840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C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898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AEA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AEA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AEA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973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R14,785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R177,420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898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AEA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AEA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AEA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973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R35,125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R421,500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C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898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AEA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AEA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AEA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973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R58,350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R700,200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898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AEA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AEA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AEA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973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R83,000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R996,000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43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" y="100584"/>
            <a:ext cx="347472" cy="347472"/>
          </a:xfrm>
          <a:prstGeom prst="ellipse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8096" y="11887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innovat3.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029200" y="128016"/>
            <a:ext cx="3767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spc="250" kern="0" dirty="0">
                <a:solidFill>
                  <a:srgbClr val="9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INTELLECTUAL PROPERTY</a:t>
            </a:r>
            <a:endParaRPr lang="en-US" sz="700" dirty="0"/>
          </a:p>
        </p:txBody>
      </p:sp>
      <p:sp>
        <p:nvSpPr>
          <p:cNvPr id="6" name="Shape 3"/>
          <p:cNvSpPr/>
          <p:nvPr/>
        </p:nvSpPr>
        <p:spPr>
          <a:xfrm>
            <a:off x="347472" y="521208"/>
            <a:ext cx="8449056" cy="4572"/>
          </a:xfrm>
          <a:prstGeom prst="rect">
            <a:avLst/>
          </a:prstGeom>
          <a:solidFill>
            <a:srgbClr val="2C2C38"/>
          </a:solidFill>
          <a:ln w="12700">
            <a:solidFill>
              <a:srgbClr val="2C2C3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7171C"/>
          </a:solidFill>
          <a:ln w="12700">
            <a:solidFill>
              <a:srgbClr val="17171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0" y="4873752"/>
            <a:ext cx="9144000" cy="4572"/>
          </a:xfrm>
          <a:prstGeom prst="rect">
            <a:avLst/>
          </a:prstGeom>
          <a:solidFill>
            <a:srgbClr val="2C2C38"/>
          </a:solidFill>
          <a:ln w="12700">
            <a:solidFill>
              <a:srgbClr val="2C2C3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47472" y="490118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innovat3.co.za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6053328" y="490118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2026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347472" y="640080"/>
            <a:ext cx="84490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A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Protecting our innovation from day one.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347472" y="1078992"/>
            <a:ext cx="84490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Provisional patent filed with CIPC. Trademark registered. Four unique technical differentiators no competitor has combined.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47472" y="1335024"/>
            <a:ext cx="4206240" cy="1517904"/>
          </a:xfrm>
          <a:prstGeom prst="rect">
            <a:avLst/>
          </a:prstGeom>
          <a:solidFill>
            <a:srgbClr val="17171C"/>
          </a:solidFill>
          <a:ln w="6350">
            <a:solidFill>
              <a:srgbClr val="2C2C3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47472" y="1335024"/>
            <a:ext cx="29261" cy="1517904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" y="1517904"/>
            <a:ext cx="402336" cy="402336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1042416" y="1517904"/>
            <a:ext cx="1481328" cy="219456"/>
          </a:xfrm>
          <a:prstGeom prst="rect">
            <a:avLst/>
          </a:prstGeom>
          <a:solidFill>
            <a:srgbClr val="0D0D0F"/>
          </a:solidFill>
          <a:ln w="10160">
            <a:solidFill>
              <a:srgbClr val="FCD34D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1042416" y="1536192"/>
            <a:ext cx="1481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 PENDING</a:t>
            </a:r>
            <a:endParaRPr lang="en-US" sz="750" dirty="0"/>
          </a:p>
        </p:txBody>
      </p:sp>
      <p:sp>
        <p:nvSpPr>
          <p:cNvPr id="18" name="Text 14"/>
          <p:cNvSpPr/>
          <p:nvPr/>
        </p:nvSpPr>
        <p:spPr>
          <a:xfrm>
            <a:off x="475488" y="1847088"/>
            <a:ext cx="3950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Provisional Application — CIPC (SA)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475488" y="2139696"/>
            <a:ext cx="39502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provisional patent application has been filed with CIPC (SA Patents Office), establishing our priority date. This gives us "Patent Pending" status while we develop the full specification.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4718304" y="1335024"/>
            <a:ext cx="4206240" cy="1517904"/>
          </a:xfrm>
          <a:prstGeom prst="rect">
            <a:avLst/>
          </a:prstGeom>
          <a:solidFill>
            <a:srgbClr val="17171C"/>
          </a:solidFill>
          <a:ln w="6350">
            <a:solidFill>
              <a:srgbClr val="2C2C3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4718304" y="1335024"/>
            <a:ext cx="29261" cy="1517904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2896" y="1517904"/>
            <a:ext cx="402336" cy="402336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5413248" y="1517904"/>
            <a:ext cx="1481328" cy="219456"/>
          </a:xfrm>
          <a:prstGeom prst="rect">
            <a:avLst/>
          </a:prstGeom>
          <a:solidFill>
            <a:srgbClr val="0D0D0F"/>
          </a:solidFill>
          <a:ln w="10160">
            <a:solidFill>
              <a:srgbClr val="4ADE80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5413248" y="1536192"/>
            <a:ext cx="1481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TRADEMARK FILED</a:t>
            </a:r>
            <a:endParaRPr lang="en-US" sz="750" dirty="0"/>
          </a:p>
        </p:txBody>
      </p:sp>
      <p:sp>
        <p:nvSpPr>
          <p:cNvPr id="25" name="Text 20"/>
          <p:cNvSpPr/>
          <p:nvPr/>
        </p:nvSpPr>
        <p:spPr>
          <a:xfrm>
            <a:off x="4846320" y="1847088"/>
            <a:ext cx="3950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"Innovat3" Brand Name + Logo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4846320" y="2139696"/>
            <a:ext cx="39502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Innovat3 brand name and turtle logo have been filed as a registered trademark with CIPC. This protects our brand identity from imitation and gives us exclusive rights in South Africa.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347472" y="2980944"/>
            <a:ext cx="8449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80" kern="0" dirty="0">
                <a:solidFill>
                  <a:srgbClr val="9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UNIQUE PROTECTED COMBINATION</a:t>
            </a:r>
            <a:endParaRPr lang="en-US" sz="800" dirty="0"/>
          </a:p>
        </p:txBody>
      </p:sp>
      <p:sp>
        <p:nvSpPr>
          <p:cNvPr id="28" name="Shape 23"/>
          <p:cNvSpPr/>
          <p:nvPr/>
        </p:nvSpPr>
        <p:spPr>
          <a:xfrm>
            <a:off x="347472" y="3236976"/>
            <a:ext cx="4206240" cy="640080"/>
          </a:xfrm>
          <a:prstGeom prst="rect">
            <a:avLst/>
          </a:prstGeom>
          <a:solidFill>
            <a:srgbClr val="17171C"/>
          </a:solidFill>
          <a:ln w="6350">
            <a:solidFill>
              <a:srgbClr val="2C2C3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347472" y="3236976"/>
            <a:ext cx="29261" cy="6400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512064" y="329184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3D-printed PETG housing</a:t>
            </a:r>
            <a:endParaRPr lang="en-US" sz="1100" dirty="0"/>
          </a:p>
        </p:txBody>
      </p:sp>
      <p:sp>
        <p:nvSpPr>
          <p:cNvPr id="31" name="Text 26"/>
          <p:cNvSpPr/>
          <p:nvPr/>
        </p:nvSpPr>
        <p:spPr>
          <a:xfrm>
            <a:off x="512064" y="35478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Locally manufactured in SA. No competitor makes their own hardware — we control quality, cost, and design entirely.</a:t>
            </a:r>
            <a:endParaRPr lang="en-US" sz="1000" dirty="0"/>
          </a:p>
        </p:txBody>
      </p:sp>
      <p:sp>
        <p:nvSpPr>
          <p:cNvPr id="32" name="Shape 27"/>
          <p:cNvSpPr/>
          <p:nvPr/>
        </p:nvSpPr>
        <p:spPr>
          <a:xfrm>
            <a:off x="4718304" y="3236976"/>
            <a:ext cx="4206240" cy="640080"/>
          </a:xfrm>
          <a:prstGeom prst="rect">
            <a:avLst/>
          </a:prstGeom>
          <a:solidFill>
            <a:srgbClr val="17171C"/>
          </a:solidFill>
          <a:ln w="6350">
            <a:solidFill>
              <a:srgbClr val="2C2C3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3" name="Shape 28"/>
          <p:cNvSpPr/>
          <p:nvPr/>
        </p:nvSpPr>
        <p:spPr>
          <a:xfrm>
            <a:off x="4718304" y="3236976"/>
            <a:ext cx="29261" cy="64008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4882896" y="329184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accuracy validation system</a:t>
            </a:r>
            <a:endParaRPr lang="en-US" sz="1100" dirty="0"/>
          </a:p>
        </p:txBody>
      </p:sp>
      <p:sp>
        <p:nvSpPr>
          <p:cNvPr id="35" name="Text 30"/>
          <p:cNvSpPr/>
          <p:nvPr/>
        </p:nvSpPr>
        <p:spPr>
          <a:xfrm>
            <a:off x="4882896" y="35478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5-retry algorithm with ≤100m threshold before sending any alert — families always receive a reliable location.</a:t>
            </a:r>
            <a:endParaRPr lang="en-US" sz="1000" dirty="0"/>
          </a:p>
        </p:txBody>
      </p:sp>
      <p:sp>
        <p:nvSpPr>
          <p:cNvPr id="36" name="Shape 31"/>
          <p:cNvSpPr/>
          <p:nvPr/>
        </p:nvSpPr>
        <p:spPr>
          <a:xfrm>
            <a:off x="347472" y="3968496"/>
            <a:ext cx="4206240" cy="640080"/>
          </a:xfrm>
          <a:prstGeom prst="rect">
            <a:avLst/>
          </a:prstGeom>
          <a:solidFill>
            <a:srgbClr val="17171C"/>
          </a:solidFill>
          <a:ln w="6350">
            <a:solidFill>
              <a:srgbClr val="2C2C3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7" name="Shape 32"/>
          <p:cNvSpPr/>
          <p:nvPr/>
        </p:nvSpPr>
        <p:spPr>
          <a:xfrm>
            <a:off x="347472" y="3968496"/>
            <a:ext cx="29261" cy="64008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8" name="Text 33"/>
          <p:cNvSpPr/>
          <p:nvPr/>
        </p:nvSpPr>
        <p:spPr>
          <a:xfrm>
            <a:off x="512064" y="402336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Telegram + WhatsApp alerts</a:t>
            </a:r>
            <a:endParaRPr lang="en-US" sz="1100" dirty="0"/>
          </a:p>
        </p:txBody>
      </p:sp>
      <p:sp>
        <p:nvSpPr>
          <p:cNvPr id="39" name="Text 34"/>
          <p:cNvSpPr/>
          <p:nvPr/>
        </p:nvSpPr>
        <p:spPr>
          <a:xfrm>
            <a:off x="512064" y="42793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Simultaneous owner notification on both platforms on every scan. No other NFC emergency tag in the world offers this.</a:t>
            </a:r>
            <a:endParaRPr lang="en-US" sz="1000" dirty="0"/>
          </a:p>
        </p:txBody>
      </p:sp>
      <p:sp>
        <p:nvSpPr>
          <p:cNvPr id="40" name="Shape 35"/>
          <p:cNvSpPr/>
          <p:nvPr/>
        </p:nvSpPr>
        <p:spPr>
          <a:xfrm>
            <a:off x="4718304" y="3968496"/>
            <a:ext cx="4206240" cy="640080"/>
          </a:xfrm>
          <a:prstGeom prst="rect">
            <a:avLst/>
          </a:prstGeom>
          <a:solidFill>
            <a:srgbClr val="17171C"/>
          </a:solidFill>
          <a:ln w="6350">
            <a:solidFill>
              <a:srgbClr val="2C2C3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41" name="Shape 36"/>
          <p:cNvSpPr/>
          <p:nvPr/>
        </p:nvSpPr>
        <p:spPr>
          <a:xfrm>
            <a:off x="4718304" y="3968496"/>
            <a:ext cx="29261" cy="640080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2" name="Text 37"/>
          <p:cNvSpPr/>
          <p:nvPr/>
        </p:nvSpPr>
        <p:spPr>
          <a:xfrm>
            <a:off x="4882896" y="402336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Google Sheets cloud profile</a:t>
            </a:r>
            <a:endParaRPr lang="en-US" sz="1100" dirty="0"/>
          </a:p>
        </p:txBody>
      </p:sp>
      <p:sp>
        <p:nvSpPr>
          <p:cNvPr id="43" name="Text 38"/>
          <p:cNvSpPr/>
          <p:nvPr/>
        </p:nvSpPr>
        <p:spPr>
          <a:xfrm>
            <a:off x="4882896" y="42793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updates reflect instantly on the next scan via the gviz API — no admin panel, no app, no delay.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43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" y="100584"/>
            <a:ext cx="347472" cy="347472"/>
          </a:xfrm>
          <a:prstGeom prst="ellipse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8096" y="11887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innovat3.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029200" y="128016"/>
            <a:ext cx="3767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spc="250" kern="0" dirty="0">
                <a:solidFill>
                  <a:srgbClr val="9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SHOWCASE</a:t>
            </a:r>
            <a:endParaRPr lang="en-US" sz="700" dirty="0"/>
          </a:p>
        </p:txBody>
      </p:sp>
      <p:sp>
        <p:nvSpPr>
          <p:cNvPr id="6" name="Shape 3"/>
          <p:cNvSpPr/>
          <p:nvPr/>
        </p:nvSpPr>
        <p:spPr>
          <a:xfrm>
            <a:off x="347472" y="521208"/>
            <a:ext cx="8449056" cy="4572"/>
          </a:xfrm>
          <a:prstGeom prst="rect">
            <a:avLst/>
          </a:prstGeom>
          <a:solidFill>
            <a:srgbClr val="2C2C38"/>
          </a:solidFill>
          <a:ln w="12700">
            <a:solidFill>
              <a:srgbClr val="2C2C3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7171C"/>
          </a:solidFill>
          <a:ln w="12700">
            <a:solidFill>
              <a:srgbClr val="17171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0" y="4873752"/>
            <a:ext cx="9144000" cy="4572"/>
          </a:xfrm>
          <a:prstGeom prst="rect">
            <a:avLst/>
          </a:prstGeom>
          <a:solidFill>
            <a:srgbClr val="2C2C38"/>
          </a:solidFill>
          <a:ln w="12700">
            <a:solidFill>
              <a:srgbClr val="2C2C3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47472" y="490118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innovat3.co.za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6053328" y="490118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2026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347472" y="640080"/>
            <a:ext cx="84490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A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survive. Designed to be worn every day.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347472" y="1078992"/>
            <a:ext cx="84490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Tough enough for pools and playgrounds. Discreet enough for offices and hospitals. IP67 rated, epoxy sealed.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47472" y="1243584"/>
            <a:ext cx="2715768" cy="3547872"/>
          </a:xfrm>
          <a:prstGeom prst="rect">
            <a:avLst/>
          </a:prstGeom>
          <a:solidFill>
            <a:srgbClr val="17171C"/>
          </a:solidFill>
          <a:ln w="6350">
            <a:solidFill>
              <a:srgbClr val="2C2C3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47472" y="1243584"/>
            <a:ext cx="29261" cy="3547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76733" y="1243584"/>
            <a:ext cx="2657246" cy="190195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75488" y="3236976"/>
            <a:ext cx="2459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Keyring Fob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475488" y="3566160"/>
            <a:ext cx="245973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popular form factor. Attaches to keys, school bags, and zip pulls. PETG shell with embedded NTAG215 inlay and IP67 epoxy seal. Survives drops, rain, and full submersion.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3122676" y="1243584"/>
            <a:ext cx="2715768" cy="3547872"/>
          </a:xfrm>
          <a:prstGeom prst="rect">
            <a:avLst/>
          </a:prstGeom>
          <a:solidFill>
            <a:srgbClr val="17171C"/>
          </a:solidFill>
          <a:ln w="6350">
            <a:solidFill>
              <a:srgbClr val="2C2C3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3122676" y="1243584"/>
            <a:ext cx="29261" cy="3547872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151937" y="1243584"/>
            <a:ext cx="2657246" cy="190195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3250692" y="3236976"/>
            <a:ext cx="2459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Colour Range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3250692" y="3566160"/>
            <a:ext cx="245973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tag printed to order in your chosen colour. Standard range: Black, Orange, Red, Teal, Blue, and Green. Glitter variants add metallic shimmer. Glow editions charge in daylight.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5897880" y="1243584"/>
            <a:ext cx="2715768" cy="3547872"/>
          </a:xfrm>
          <a:prstGeom prst="rect">
            <a:avLst/>
          </a:prstGeom>
          <a:solidFill>
            <a:srgbClr val="17171C"/>
          </a:solidFill>
          <a:ln w="6350">
            <a:solidFill>
              <a:srgbClr val="2C2C3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5897880" y="1243584"/>
            <a:ext cx="29261" cy="354787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927141" y="1243584"/>
            <a:ext cx="2657246" cy="190195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025896" y="3236976"/>
            <a:ext cx="2459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Glow Edition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6025896" y="3566160"/>
            <a:ext cx="245973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Glow-in-the-dark PETG filament stores ambient light passively — no batteries, no cable. Provides 6–8 hours of bright blue-green visibility in complete darkness.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43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" y="100584"/>
            <a:ext cx="347472" cy="347472"/>
          </a:xfrm>
          <a:prstGeom prst="ellipse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8096" y="11887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innovat3.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029200" y="128016"/>
            <a:ext cx="3767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spc="250" kern="0" dirty="0">
                <a:solidFill>
                  <a:srgbClr val="9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ROADMAP</a:t>
            </a:r>
            <a:endParaRPr lang="en-US" sz="700" dirty="0"/>
          </a:p>
        </p:txBody>
      </p:sp>
      <p:sp>
        <p:nvSpPr>
          <p:cNvPr id="6" name="Shape 3"/>
          <p:cNvSpPr/>
          <p:nvPr/>
        </p:nvSpPr>
        <p:spPr>
          <a:xfrm>
            <a:off x="347472" y="521208"/>
            <a:ext cx="8449056" cy="4572"/>
          </a:xfrm>
          <a:prstGeom prst="rect">
            <a:avLst/>
          </a:prstGeom>
          <a:solidFill>
            <a:srgbClr val="2C2C38"/>
          </a:solidFill>
          <a:ln w="12700">
            <a:solidFill>
              <a:srgbClr val="2C2C3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7171C"/>
          </a:solidFill>
          <a:ln w="12700">
            <a:solidFill>
              <a:srgbClr val="17171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0" y="4873752"/>
            <a:ext cx="9144000" cy="4572"/>
          </a:xfrm>
          <a:prstGeom prst="rect">
            <a:avLst/>
          </a:prstGeom>
          <a:solidFill>
            <a:srgbClr val="2C2C38"/>
          </a:solidFill>
          <a:ln w="12700">
            <a:solidFill>
              <a:srgbClr val="2C2C3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47472" y="490118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innovat3.co.za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6053328" y="490118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2026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347472" y="640080"/>
            <a:ext cx="84490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A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first tag to 100 subscribers in 60 days.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347472" y="1078992"/>
            <a:ext cx="84490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focused, low-overhead plan built around community sales, beta feedback, and word-of-mouth. No external funding required.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47472" y="1316736"/>
            <a:ext cx="2029968" cy="3456432"/>
          </a:xfrm>
          <a:prstGeom prst="rect">
            <a:avLst/>
          </a:prstGeom>
          <a:solidFill>
            <a:srgbClr val="17171C"/>
          </a:solidFill>
          <a:ln w="6350">
            <a:solidFill>
              <a:srgbClr val="2C2C3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47472" y="1316736"/>
            <a:ext cx="2029968" cy="29261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47472" y="1316736"/>
            <a:ext cx="2029968" cy="347472"/>
          </a:xfrm>
          <a:prstGeom prst="rect">
            <a:avLst/>
          </a:prstGeom>
          <a:solidFill>
            <a:srgbClr val="1F1F27"/>
          </a:solidFill>
          <a:ln w="12700">
            <a:solidFill>
              <a:srgbClr val="2C2C3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7200" y="1353312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1–2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457200" y="1719072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457200" y="2066544"/>
            <a:ext cx="1810512" cy="4572"/>
          </a:xfrm>
          <a:prstGeom prst="rect">
            <a:avLst/>
          </a:prstGeom>
          <a:solidFill>
            <a:srgbClr val="2C2C38"/>
          </a:solidFill>
          <a:ln w="12700">
            <a:solidFill>
              <a:srgbClr val="2C2C3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75488" y="2258568"/>
            <a:ext cx="54864" cy="128016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03504" y="2139696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50 NTAG215 inlays (~R750)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75488" y="2770632"/>
            <a:ext cx="54864" cy="128016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03504" y="2651760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Google Apps Script backend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75488" y="3282696"/>
            <a:ext cx="54864" cy="128016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03504" y="3163824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provisional patent with CIPC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75488" y="3794760"/>
            <a:ext cx="54864" cy="128016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03504" y="3675888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the Innovat3 trademark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475488" y="4306824"/>
            <a:ext cx="54864" cy="128016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03504" y="4187952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10 prototype beta tags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2436876" y="1316736"/>
            <a:ext cx="2029968" cy="3456432"/>
          </a:xfrm>
          <a:prstGeom prst="rect">
            <a:avLst/>
          </a:prstGeom>
          <a:solidFill>
            <a:srgbClr val="17171C"/>
          </a:solidFill>
          <a:ln w="6350">
            <a:solidFill>
              <a:srgbClr val="2C2C3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2436876" y="1316736"/>
            <a:ext cx="2029968" cy="29261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2436876" y="1316736"/>
            <a:ext cx="2029968" cy="347472"/>
          </a:xfrm>
          <a:prstGeom prst="rect">
            <a:avLst/>
          </a:prstGeom>
          <a:solidFill>
            <a:srgbClr val="1F1F27"/>
          </a:solidFill>
          <a:ln w="12700">
            <a:solidFill>
              <a:srgbClr val="2C2C38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2546604" y="1353312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3–4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2546604" y="1719072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Launch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2546604" y="2066544"/>
            <a:ext cx="1810512" cy="4572"/>
          </a:xfrm>
          <a:prstGeom prst="rect">
            <a:avLst/>
          </a:prstGeom>
          <a:solidFill>
            <a:srgbClr val="2C2C38"/>
          </a:solidFill>
          <a:ln w="12700">
            <a:solidFill>
              <a:srgbClr val="2C2C38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2564892" y="2258568"/>
            <a:ext cx="54864" cy="12801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2692908" y="2139696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to 10 beta families at no cost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2564892" y="2770632"/>
            <a:ext cx="54864" cy="12801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2692908" y="2651760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feedback and fix issues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2564892" y="3282696"/>
            <a:ext cx="54864" cy="12801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2692908" y="3163824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Film product demonstration video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2564892" y="3794760"/>
            <a:ext cx="54864" cy="12801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2692908" y="3675888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all social media pages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2564892" y="4306824"/>
            <a:ext cx="54864" cy="12801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2692908" y="4187952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all alerts are live</a:t>
            </a:r>
            <a:endParaRPr lang="en-US" sz="1100" dirty="0"/>
          </a:p>
        </p:txBody>
      </p:sp>
      <p:sp>
        <p:nvSpPr>
          <p:cNvPr id="45" name="Shape 42"/>
          <p:cNvSpPr/>
          <p:nvPr/>
        </p:nvSpPr>
        <p:spPr>
          <a:xfrm>
            <a:off x="4526280" y="1316736"/>
            <a:ext cx="2029968" cy="3456432"/>
          </a:xfrm>
          <a:prstGeom prst="rect">
            <a:avLst/>
          </a:prstGeom>
          <a:solidFill>
            <a:srgbClr val="17171C"/>
          </a:solidFill>
          <a:ln w="6350">
            <a:solidFill>
              <a:srgbClr val="2C2C3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46" name="Shape 43"/>
          <p:cNvSpPr/>
          <p:nvPr/>
        </p:nvSpPr>
        <p:spPr>
          <a:xfrm>
            <a:off x="4526280" y="1316736"/>
            <a:ext cx="2029968" cy="29261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4526280" y="1316736"/>
            <a:ext cx="2029968" cy="347472"/>
          </a:xfrm>
          <a:prstGeom prst="rect">
            <a:avLst/>
          </a:prstGeom>
          <a:solidFill>
            <a:srgbClr val="1F1F27"/>
          </a:solidFill>
          <a:ln w="12700">
            <a:solidFill>
              <a:srgbClr val="2C2C38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4636008" y="1353312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5–6</a:t>
            </a:r>
            <a:endParaRPr lang="en-US" sz="850" dirty="0"/>
          </a:p>
        </p:txBody>
      </p:sp>
      <p:sp>
        <p:nvSpPr>
          <p:cNvPr id="49" name="Text 46"/>
          <p:cNvSpPr/>
          <p:nvPr/>
        </p:nvSpPr>
        <p:spPr>
          <a:xfrm>
            <a:off x="4636008" y="1719072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Launch</a:t>
            </a:r>
            <a:endParaRPr lang="en-US" sz="1300" dirty="0"/>
          </a:p>
        </p:txBody>
      </p:sp>
      <p:sp>
        <p:nvSpPr>
          <p:cNvPr id="50" name="Shape 47"/>
          <p:cNvSpPr/>
          <p:nvPr/>
        </p:nvSpPr>
        <p:spPr>
          <a:xfrm>
            <a:off x="4636008" y="2066544"/>
            <a:ext cx="1810512" cy="4572"/>
          </a:xfrm>
          <a:prstGeom prst="rect">
            <a:avLst/>
          </a:prstGeom>
          <a:solidFill>
            <a:srgbClr val="2C2C38"/>
          </a:solidFill>
          <a:ln w="12700">
            <a:solidFill>
              <a:srgbClr val="2C2C38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4654296" y="2258568"/>
            <a:ext cx="54864" cy="128016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4782312" y="2139696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paid subscriptions publicly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4654296" y="2770632"/>
            <a:ext cx="54864" cy="128016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4782312" y="2651760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Facebook and WhatsApp ads</a:t>
            </a:r>
            <a:endParaRPr lang="en-US" sz="1100" dirty="0"/>
          </a:p>
        </p:txBody>
      </p:sp>
      <p:sp>
        <p:nvSpPr>
          <p:cNvPr id="55" name="Shape 52"/>
          <p:cNvSpPr/>
          <p:nvPr/>
        </p:nvSpPr>
        <p:spPr>
          <a:xfrm>
            <a:off x="4654296" y="3282696"/>
            <a:ext cx="54864" cy="128016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4782312" y="3163824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30 paid subscribers</a:t>
            </a:r>
            <a:endParaRPr lang="en-US" sz="1100" dirty="0"/>
          </a:p>
        </p:txBody>
      </p:sp>
      <p:sp>
        <p:nvSpPr>
          <p:cNvPr id="57" name="Shape 54"/>
          <p:cNvSpPr/>
          <p:nvPr/>
        </p:nvSpPr>
        <p:spPr>
          <a:xfrm>
            <a:off x="4654296" y="3794760"/>
            <a:ext cx="54864" cy="128016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4782312" y="3675888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 reseller programme</a:t>
            </a:r>
            <a:endParaRPr lang="en-US" sz="1100" dirty="0"/>
          </a:p>
        </p:txBody>
      </p:sp>
      <p:sp>
        <p:nvSpPr>
          <p:cNvPr id="59" name="Shape 56"/>
          <p:cNvSpPr/>
          <p:nvPr/>
        </p:nvSpPr>
        <p:spPr>
          <a:xfrm>
            <a:off x="4654296" y="4306824"/>
            <a:ext cx="54864" cy="128016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4782312" y="4187952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and frail-care outreach</a:t>
            </a:r>
            <a:endParaRPr lang="en-US" sz="1100" dirty="0"/>
          </a:p>
        </p:txBody>
      </p:sp>
      <p:sp>
        <p:nvSpPr>
          <p:cNvPr id="61" name="Shape 58"/>
          <p:cNvSpPr/>
          <p:nvPr/>
        </p:nvSpPr>
        <p:spPr>
          <a:xfrm>
            <a:off x="6615684" y="1316736"/>
            <a:ext cx="2029968" cy="3456432"/>
          </a:xfrm>
          <a:prstGeom prst="rect">
            <a:avLst/>
          </a:prstGeom>
          <a:solidFill>
            <a:srgbClr val="17171C"/>
          </a:solidFill>
          <a:ln w="6350">
            <a:solidFill>
              <a:srgbClr val="2C2C3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2" name="Shape 59"/>
          <p:cNvSpPr/>
          <p:nvPr/>
        </p:nvSpPr>
        <p:spPr>
          <a:xfrm>
            <a:off x="6615684" y="1316736"/>
            <a:ext cx="2029968" cy="29261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6615684" y="1316736"/>
            <a:ext cx="2029968" cy="347472"/>
          </a:xfrm>
          <a:prstGeom prst="rect">
            <a:avLst/>
          </a:prstGeom>
          <a:solidFill>
            <a:srgbClr val="1F1F27"/>
          </a:solidFill>
          <a:ln w="12700">
            <a:solidFill>
              <a:srgbClr val="2C2C38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6725412" y="1353312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3+</a:t>
            </a:r>
            <a:endParaRPr lang="en-US" sz="850" dirty="0"/>
          </a:p>
        </p:txBody>
      </p:sp>
      <p:sp>
        <p:nvSpPr>
          <p:cNvPr id="65" name="Text 62"/>
          <p:cNvSpPr/>
          <p:nvPr/>
        </p:nvSpPr>
        <p:spPr>
          <a:xfrm>
            <a:off x="6725412" y="1719072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300" dirty="0"/>
          </a:p>
        </p:txBody>
      </p:sp>
      <p:sp>
        <p:nvSpPr>
          <p:cNvPr id="66" name="Shape 63"/>
          <p:cNvSpPr/>
          <p:nvPr/>
        </p:nvSpPr>
        <p:spPr>
          <a:xfrm>
            <a:off x="6725412" y="2066544"/>
            <a:ext cx="1810512" cy="4572"/>
          </a:xfrm>
          <a:prstGeom prst="rect">
            <a:avLst/>
          </a:prstGeom>
          <a:solidFill>
            <a:srgbClr val="2C2C38"/>
          </a:solidFill>
          <a:ln w="12700">
            <a:solidFill>
              <a:srgbClr val="2C2C38"/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6743700" y="2258568"/>
            <a:ext cx="54864" cy="128016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6871716" y="2139696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Pharmacy and clinic partnerships</a:t>
            </a:r>
            <a:endParaRPr lang="en-US" sz="1100" dirty="0"/>
          </a:p>
        </p:txBody>
      </p:sp>
      <p:sp>
        <p:nvSpPr>
          <p:cNvPr id="69" name="Shape 66"/>
          <p:cNvSpPr/>
          <p:nvPr/>
        </p:nvSpPr>
        <p:spPr>
          <a:xfrm>
            <a:off x="6743700" y="2770632"/>
            <a:ext cx="54864" cy="128016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6871716" y="2651760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SMS alert tier</a:t>
            </a:r>
            <a:endParaRPr lang="en-US" sz="1100" dirty="0"/>
          </a:p>
        </p:txBody>
      </p:sp>
      <p:sp>
        <p:nvSpPr>
          <p:cNvPr id="71" name="Shape 68"/>
          <p:cNvSpPr/>
          <p:nvPr/>
        </p:nvSpPr>
        <p:spPr>
          <a:xfrm>
            <a:off x="6743700" y="3282696"/>
            <a:ext cx="54864" cy="128016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72" name="Text 69"/>
          <p:cNvSpPr/>
          <p:nvPr/>
        </p:nvSpPr>
        <p:spPr>
          <a:xfrm>
            <a:off x="6871716" y="3163824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200 active subscribers</a:t>
            </a:r>
            <a:endParaRPr lang="en-US" sz="1100" dirty="0"/>
          </a:p>
        </p:txBody>
      </p:sp>
      <p:sp>
        <p:nvSpPr>
          <p:cNvPr id="73" name="Shape 70"/>
          <p:cNvSpPr/>
          <p:nvPr/>
        </p:nvSpPr>
        <p:spPr>
          <a:xfrm>
            <a:off x="6743700" y="3794760"/>
            <a:ext cx="54864" cy="128016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74" name="Text 71"/>
          <p:cNvSpPr/>
          <p:nvPr/>
        </p:nvSpPr>
        <p:spPr>
          <a:xfrm>
            <a:off x="6871716" y="3675888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rollout beyond Gauteng</a:t>
            </a:r>
            <a:endParaRPr lang="en-US" sz="1100" dirty="0"/>
          </a:p>
        </p:txBody>
      </p:sp>
      <p:sp>
        <p:nvSpPr>
          <p:cNvPr id="75" name="Shape 72"/>
          <p:cNvSpPr/>
          <p:nvPr/>
        </p:nvSpPr>
        <p:spPr>
          <a:xfrm>
            <a:off x="6743700" y="4306824"/>
            <a:ext cx="54864" cy="128016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76" name="Text 73"/>
          <p:cNvSpPr/>
          <p:nvPr/>
        </p:nvSpPr>
        <p:spPr>
          <a:xfrm>
            <a:off x="6871716" y="4187952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PayFast auto-activation integration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43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9080" y="530352"/>
            <a:ext cx="1005840" cy="1005840"/>
          </a:xfrm>
          <a:prstGeom prst="ellipse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1700784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innovat3.</a:t>
            </a:r>
            <a:endParaRPr lang="en-US" sz="5200" dirty="0"/>
          </a:p>
        </p:txBody>
      </p:sp>
      <p:sp>
        <p:nvSpPr>
          <p:cNvPr id="5" name="Text 2"/>
          <p:cNvSpPr/>
          <p:nvPr/>
        </p:nvSpPr>
        <p:spPr>
          <a:xfrm>
            <a:off x="914400" y="261518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A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NFC Emergency Tags  ·  Made in South Africa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2286000" y="3017520"/>
            <a:ext cx="4572000" cy="4572"/>
          </a:xfrm>
          <a:prstGeom prst="rect">
            <a:avLst/>
          </a:prstGeom>
          <a:solidFill>
            <a:srgbClr val="2C2C38"/>
          </a:solidFill>
          <a:ln w="12700">
            <a:solidFill>
              <a:srgbClr val="2C2C3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194560" y="32004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150" kern="0" dirty="0">
                <a:solidFill>
                  <a:srgbClr val="9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3611880" y="3200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hello@innovat3.co.za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2194560" y="354787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150" kern="0" dirty="0">
                <a:solidFill>
                  <a:srgbClr val="9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3611880" y="35478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innovat3.co.za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2194560" y="389534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150" kern="0" dirty="0">
                <a:solidFill>
                  <a:srgbClr val="9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3611880" y="38953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anytime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914400" y="4517136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Protecting families · One scan at a time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Innovat3 · Smart NFC Emergency Tags · 2026</dc:title>
  <dc:subject>PptxGenJS Presentation</dc:subject>
  <dc:creator>PptxGenJS</dc:creator>
  <cp:lastModifiedBy>PptxGenJS</cp:lastModifiedBy>
  <cp:revision>1</cp:revision>
  <dcterms:created xsi:type="dcterms:W3CDTF">2026-03-12T13:55:59Z</dcterms:created>
  <dcterms:modified xsi:type="dcterms:W3CDTF">2026-03-12T13:55:59Z</dcterms:modified>
</cp:coreProperties>
</file>